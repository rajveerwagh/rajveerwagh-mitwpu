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09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B3295-983D-4C0F-B485-C112E0D76285}" v="12" dt="2026-02-16T15:26:20.8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033" autoAdjust="0"/>
  </p:normalViewPr>
  <p:slideViewPr>
    <p:cSldViewPr snapToGrid="0">
      <p:cViewPr>
        <p:scale>
          <a:sx n="66" d="100"/>
          <a:sy n="66" d="100"/>
        </p:scale>
        <p:origin x="614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Rajput" userId="6bfcb139d86ca3fa" providerId="LiveId" clId="{A3C79F90-B954-4C15-824B-924C6939C428}"/>
    <pc:docChg chg="undo custSel addSld modSld">
      <pc:chgData name="Krishna Rajput" userId="6bfcb139d86ca3fa" providerId="LiveId" clId="{A3C79F90-B954-4C15-824B-924C6939C428}" dt="2026-02-16T15:27:58.079" v="674" actId="20577"/>
      <pc:docMkLst>
        <pc:docMk/>
      </pc:docMkLst>
      <pc:sldChg chg="addSp delSp modSp mod">
        <pc:chgData name="Krishna Rajput" userId="6bfcb139d86ca3fa" providerId="LiveId" clId="{A3C79F90-B954-4C15-824B-924C6939C428}" dt="2026-02-16T14:48:56.044" v="103" actId="1076"/>
        <pc:sldMkLst>
          <pc:docMk/>
          <pc:sldMk cId="2851783615" sldId="269"/>
        </pc:sldMkLst>
        <pc:spChg chg="add mod ord">
          <ac:chgData name="Krishna Rajput" userId="6bfcb139d86ca3fa" providerId="LiveId" clId="{A3C79F90-B954-4C15-824B-924C6939C428}" dt="2026-02-16T14:46:25.543" v="16" actId="171"/>
          <ac:spMkLst>
            <pc:docMk/>
            <pc:sldMk cId="2851783615" sldId="269"/>
            <ac:spMk id="8" creationId="{167CA18B-626A-2036-661A-8D2A6CADAE1E}"/>
          </ac:spMkLst>
        </pc:spChg>
        <pc:spChg chg="add mod">
          <ac:chgData name="Krishna Rajput" userId="6bfcb139d86ca3fa" providerId="LiveId" clId="{A3C79F90-B954-4C15-824B-924C6939C428}" dt="2026-02-16T14:48:56.044" v="103" actId="1076"/>
          <ac:spMkLst>
            <pc:docMk/>
            <pc:sldMk cId="2851783615" sldId="269"/>
            <ac:spMk id="9" creationId="{7B97E1E7-D42D-9B58-90F4-1981D181CE47}"/>
          </ac:spMkLst>
        </pc:spChg>
        <pc:picChg chg="add del mod">
          <ac:chgData name="Krishna Rajput" userId="6bfcb139d86ca3fa" providerId="LiveId" clId="{A3C79F90-B954-4C15-824B-924C6939C428}" dt="2026-02-16T12:50:39.128" v="1" actId="931"/>
          <ac:picMkLst>
            <pc:docMk/>
            <pc:sldMk cId="2851783615" sldId="269"/>
            <ac:picMk id="3" creationId="{81B0EC55-6ABC-7A16-8CE2-10E33B5AEE7C}"/>
          </ac:picMkLst>
        </pc:picChg>
        <pc:picChg chg="add del mod">
          <ac:chgData name="Krishna Rajput" userId="6bfcb139d86ca3fa" providerId="LiveId" clId="{A3C79F90-B954-4C15-824B-924C6939C428}" dt="2026-02-16T12:51:54.396" v="5" actId="478"/>
          <ac:picMkLst>
            <pc:docMk/>
            <pc:sldMk cId="2851783615" sldId="269"/>
            <ac:picMk id="5" creationId="{EBBE4E12-8B1B-B108-6F4C-560CDFB431CE}"/>
          </ac:picMkLst>
        </pc:picChg>
        <pc:picChg chg="add mod">
          <ac:chgData name="Krishna Rajput" userId="6bfcb139d86ca3fa" providerId="LiveId" clId="{A3C79F90-B954-4C15-824B-924C6939C428}" dt="2026-02-16T14:47:17.752" v="72" actId="1076"/>
          <ac:picMkLst>
            <pc:docMk/>
            <pc:sldMk cId="2851783615" sldId="269"/>
            <ac:picMk id="7" creationId="{294B2511-3070-4612-D824-D34BDA89DAF9}"/>
          </ac:picMkLst>
        </pc:picChg>
      </pc:sldChg>
      <pc:sldChg chg="addSp delSp modSp mod">
        <pc:chgData name="Krishna Rajput" userId="6bfcb139d86ca3fa" providerId="LiveId" clId="{A3C79F90-B954-4C15-824B-924C6939C428}" dt="2026-02-16T15:25:42.489" v="640" actId="207"/>
        <pc:sldMkLst>
          <pc:docMk/>
          <pc:sldMk cId="3034864015" sldId="270"/>
        </pc:sldMkLst>
        <pc:spChg chg="add mod modVis">
          <ac:chgData name="Krishna Rajput" userId="6bfcb139d86ca3fa" providerId="LiveId" clId="{A3C79F90-B954-4C15-824B-924C6939C428}" dt="2026-02-16T15:25:42.489" v="640" actId="207"/>
          <ac:spMkLst>
            <pc:docMk/>
            <pc:sldMk cId="3034864015" sldId="270"/>
            <ac:spMk id="2" creationId="{E3701A79-570C-B498-DD95-2C18C088B14D}"/>
          </ac:spMkLst>
        </pc:spChg>
        <pc:spChg chg="add mod">
          <ac:chgData name="Krishna Rajput" userId="6bfcb139d86ca3fa" providerId="LiveId" clId="{A3C79F90-B954-4C15-824B-924C6939C428}" dt="2026-02-16T15:12:49.136" v="266"/>
          <ac:spMkLst>
            <pc:docMk/>
            <pc:sldMk cId="3034864015" sldId="270"/>
            <ac:spMk id="3" creationId="{D1078C23-0516-33D7-2A92-FEFEC36D7151}"/>
          </ac:spMkLst>
        </pc:spChg>
        <pc:spChg chg="add mod">
          <ac:chgData name="Krishna Rajput" userId="6bfcb139d86ca3fa" providerId="LiveId" clId="{A3C79F90-B954-4C15-824B-924C6939C428}" dt="2026-02-16T15:12:40.603" v="262"/>
          <ac:spMkLst>
            <pc:docMk/>
            <pc:sldMk cId="3034864015" sldId="270"/>
            <ac:spMk id="8" creationId="{665D647D-D206-2407-133B-3B088FFC2470}"/>
          </ac:spMkLst>
        </pc:spChg>
        <pc:spChg chg="add del mod">
          <ac:chgData name="Krishna Rajput" userId="6bfcb139d86ca3fa" providerId="LiveId" clId="{A3C79F90-B954-4C15-824B-924C6939C428}" dt="2026-02-16T15:10:14.827" v="199" actId="478"/>
          <ac:spMkLst>
            <pc:docMk/>
            <pc:sldMk cId="3034864015" sldId="270"/>
            <ac:spMk id="9" creationId="{59A64A90-9651-6B45-96E2-D1F4CCC6B453}"/>
          </ac:spMkLst>
        </pc:spChg>
        <pc:spChg chg="add mod">
          <ac:chgData name="Krishna Rajput" userId="6bfcb139d86ca3fa" providerId="LiveId" clId="{A3C79F90-B954-4C15-824B-924C6939C428}" dt="2026-02-16T15:12:39.388" v="261"/>
          <ac:spMkLst>
            <pc:docMk/>
            <pc:sldMk cId="3034864015" sldId="270"/>
            <ac:spMk id="10" creationId="{51F4AD60-EB5F-D756-4A2F-B0E730D27332}"/>
          </ac:spMkLst>
        </pc:spChg>
        <pc:spChg chg="add mod">
          <ac:chgData name="Krishna Rajput" userId="6bfcb139d86ca3fa" providerId="LiveId" clId="{A3C79F90-B954-4C15-824B-924C6939C428}" dt="2026-02-16T15:15:09.926" v="333"/>
          <ac:spMkLst>
            <pc:docMk/>
            <pc:sldMk cId="3034864015" sldId="270"/>
            <ac:spMk id="19" creationId="{3CA87899-1FBD-678E-B1C5-A439B5E596E0}"/>
          </ac:spMkLst>
        </pc:spChg>
        <pc:spChg chg="add del mod">
          <ac:chgData name="Krishna Rajput" userId="6bfcb139d86ca3fa" providerId="LiveId" clId="{A3C79F90-B954-4C15-824B-924C6939C428}" dt="2026-02-16T15:16:45.590" v="380" actId="1076"/>
          <ac:spMkLst>
            <pc:docMk/>
            <pc:sldMk cId="3034864015" sldId="270"/>
            <ac:spMk id="20" creationId="{5C3F4682-B62D-62DD-FB2E-16F16509D444}"/>
          </ac:spMkLst>
        </pc:spChg>
        <pc:spChg chg="add mod">
          <ac:chgData name="Krishna Rajput" userId="6bfcb139d86ca3fa" providerId="LiveId" clId="{A3C79F90-B954-4C15-824B-924C6939C428}" dt="2026-02-16T15:17:17.776" v="429" actId="1076"/>
          <ac:spMkLst>
            <pc:docMk/>
            <pc:sldMk cId="3034864015" sldId="270"/>
            <ac:spMk id="21" creationId="{B586966B-3232-ACF4-3E40-ADB43DE3DFD5}"/>
          </ac:spMkLst>
        </pc:spChg>
        <pc:spChg chg="add mod">
          <ac:chgData name="Krishna Rajput" userId="6bfcb139d86ca3fa" providerId="LiveId" clId="{A3C79F90-B954-4C15-824B-924C6939C428}" dt="2026-02-16T15:18:23.366" v="501" actId="1076"/>
          <ac:spMkLst>
            <pc:docMk/>
            <pc:sldMk cId="3034864015" sldId="270"/>
            <ac:spMk id="22" creationId="{5E067152-014A-4EAD-4C81-C118708A4C47}"/>
          </ac:spMkLst>
        </pc:spChg>
        <pc:spChg chg="add mod">
          <ac:chgData name="Krishna Rajput" userId="6bfcb139d86ca3fa" providerId="LiveId" clId="{A3C79F90-B954-4C15-824B-924C6939C428}" dt="2026-02-16T15:20:20.024" v="552" actId="1076"/>
          <ac:spMkLst>
            <pc:docMk/>
            <pc:sldMk cId="3034864015" sldId="270"/>
            <ac:spMk id="29" creationId="{48DBAF0E-67BA-145F-9932-2249B2EF8A6A}"/>
          </ac:spMkLst>
        </pc:spChg>
        <pc:spChg chg="add mod">
          <ac:chgData name="Krishna Rajput" userId="6bfcb139d86ca3fa" providerId="LiveId" clId="{A3C79F90-B954-4C15-824B-924C6939C428}" dt="2026-02-16T15:24:52.879" v="636" actId="20577"/>
          <ac:spMkLst>
            <pc:docMk/>
            <pc:sldMk cId="3034864015" sldId="270"/>
            <ac:spMk id="32" creationId="{2BBCDC2D-FE07-6922-EF7A-A89941D0554F}"/>
          </ac:spMkLst>
        </pc:spChg>
        <pc:picChg chg="add mod">
          <ac:chgData name="Krishna Rajput" userId="6bfcb139d86ca3fa" providerId="LiveId" clId="{A3C79F90-B954-4C15-824B-924C6939C428}" dt="2026-02-16T15:12:51.698" v="267"/>
          <ac:picMkLst>
            <pc:docMk/>
            <pc:sldMk cId="3034864015" sldId="270"/>
            <ac:picMk id="5" creationId="{9FA2EAF0-F4E1-9E99-61C0-2B15E227A172}"/>
          </ac:picMkLst>
        </pc:picChg>
        <pc:picChg chg="add mod">
          <ac:chgData name="Krishna Rajput" userId="6bfcb139d86ca3fa" providerId="LiveId" clId="{A3C79F90-B954-4C15-824B-924C6939C428}" dt="2026-02-16T15:12:54.607" v="268"/>
          <ac:picMkLst>
            <pc:docMk/>
            <pc:sldMk cId="3034864015" sldId="270"/>
            <ac:picMk id="7" creationId="{0BD24A99-6590-C0D4-EA8F-E169AFA82665}"/>
          </ac:picMkLst>
        </pc:picChg>
        <pc:picChg chg="add mod">
          <ac:chgData name="Krishna Rajput" userId="6bfcb139d86ca3fa" providerId="LiveId" clId="{A3C79F90-B954-4C15-824B-924C6939C428}" dt="2026-02-16T15:13:39.511" v="275" actId="1076"/>
          <ac:picMkLst>
            <pc:docMk/>
            <pc:sldMk cId="3034864015" sldId="270"/>
            <ac:picMk id="12" creationId="{52AD01CA-30C7-638B-1347-93AA32480BB6}"/>
          </ac:picMkLst>
        </pc:picChg>
        <pc:picChg chg="add mod">
          <ac:chgData name="Krishna Rajput" userId="6bfcb139d86ca3fa" providerId="LiveId" clId="{A3C79F90-B954-4C15-824B-924C6939C428}" dt="2026-02-16T15:16:51.199" v="382" actId="14100"/>
          <ac:picMkLst>
            <pc:docMk/>
            <pc:sldMk cId="3034864015" sldId="270"/>
            <ac:picMk id="14" creationId="{37E67922-FD9D-3E1A-1A97-E01F22988552}"/>
          </ac:picMkLst>
        </pc:picChg>
        <pc:picChg chg="add mod">
          <ac:chgData name="Krishna Rajput" userId="6bfcb139d86ca3fa" providerId="LiveId" clId="{A3C79F90-B954-4C15-824B-924C6939C428}" dt="2026-02-16T15:17:33.331" v="433" actId="14100"/>
          <ac:picMkLst>
            <pc:docMk/>
            <pc:sldMk cId="3034864015" sldId="270"/>
            <ac:picMk id="16" creationId="{57A7276A-A60F-2EB6-F5E0-66F658815187}"/>
          </ac:picMkLst>
        </pc:picChg>
        <pc:picChg chg="add mod">
          <ac:chgData name="Krishna Rajput" userId="6bfcb139d86ca3fa" providerId="LiveId" clId="{A3C79F90-B954-4C15-824B-924C6939C428}" dt="2026-02-16T15:18:34.636" v="505" actId="1076"/>
          <ac:picMkLst>
            <pc:docMk/>
            <pc:sldMk cId="3034864015" sldId="270"/>
            <ac:picMk id="18" creationId="{BC63F5A0-BC52-702D-89B5-B4C1CB274FCD}"/>
          </ac:picMkLst>
        </pc:picChg>
        <pc:picChg chg="add del mod">
          <ac:chgData name="Krishna Rajput" userId="6bfcb139d86ca3fa" providerId="LiveId" clId="{A3C79F90-B954-4C15-824B-924C6939C428}" dt="2026-02-16T15:19:11.582" v="508" actId="478"/>
          <ac:picMkLst>
            <pc:docMk/>
            <pc:sldMk cId="3034864015" sldId="270"/>
            <ac:picMk id="24" creationId="{8D4022E6-D9A2-E0C7-4814-A89A456F5680}"/>
          </ac:picMkLst>
        </pc:picChg>
        <pc:picChg chg="add mod">
          <ac:chgData name="Krishna Rajput" userId="6bfcb139d86ca3fa" providerId="LiveId" clId="{A3C79F90-B954-4C15-824B-924C6939C428}" dt="2026-02-16T15:20:27.633" v="555" actId="1076"/>
          <ac:picMkLst>
            <pc:docMk/>
            <pc:sldMk cId="3034864015" sldId="270"/>
            <ac:picMk id="26" creationId="{29B7DC29-9ED7-2F72-EB62-707B246DA8E6}"/>
          </ac:picMkLst>
        </pc:picChg>
        <pc:picChg chg="add del">
          <ac:chgData name="Krishna Rajput" userId="6bfcb139d86ca3fa" providerId="LiveId" clId="{A3C79F90-B954-4C15-824B-924C6939C428}" dt="2026-02-16T15:19:47.762" v="512" actId="478"/>
          <ac:picMkLst>
            <pc:docMk/>
            <pc:sldMk cId="3034864015" sldId="270"/>
            <ac:picMk id="28" creationId="{553C3435-DDE6-2A14-D850-CB5AD1CCF0FA}"/>
          </ac:picMkLst>
        </pc:picChg>
        <pc:picChg chg="add mod">
          <ac:chgData name="Krishna Rajput" userId="6bfcb139d86ca3fa" providerId="LiveId" clId="{A3C79F90-B954-4C15-824B-924C6939C428}" dt="2026-02-16T15:23:59.987" v="568" actId="1076"/>
          <ac:picMkLst>
            <pc:docMk/>
            <pc:sldMk cId="3034864015" sldId="270"/>
            <ac:picMk id="31" creationId="{5575F1AF-1896-6164-EEF4-2ECDCE06921F}"/>
          </ac:picMkLst>
        </pc:picChg>
      </pc:sldChg>
      <pc:sldChg chg="addSp modSp new mod">
        <pc:chgData name="Krishna Rajput" userId="6bfcb139d86ca3fa" providerId="LiveId" clId="{A3C79F90-B954-4C15-824B-924C6939C428}" dt="2026-02-16T15:27:58.079" v="674" actId="20577"/>
        <pc:sldMkLst>
          <pc:docMk/>
          <pc:sldMk cId="3809263713" sldId="272"/>
        </pc:sldMkLst>
        <pc:spChg chg="add mod">
          <ac:chgData name="Krishna Rajput" userId="6bfcb139d86ca3fa" providerId="LiveId" clId="{A3C79F90-B954-4C15-824B-924C6939C428}" dt="2026-02-16T15:27:58.079" v="674" actId="20577"/>
          <ac:spMkLst>
            <pc:docMk/>
            <pc:sldMk cId="3809263713" sldId="272"/>
            <ac:spMk id="2" creationId="{4A09722F-B738-8416-77A1-8210433C1F29}"/>
          </ac:spMkLst>
        </pc:spChg>
        <pc:spChg chg="add mod">
          <ac:chgData name="Krishna Rajput" userId="6bfcb139d86ca3fa" providerId="LiveId" clId="{A3C79F90-B954-4C15-824B-924C6939C428}" dt="2026-02-16T15:27:51.992" v="672" actId="1076"/>
          <ac:spMkLst>
            <pc:docMk/>
            <pc:sldMk cId="3809263713" sldId="272"/>
            <ac:spMk id="3" creationId="{F381CA9D-43D9-68AB-0055-EBAE2E808C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1A091-5A4C-40C5-AC1E-D4AD864C7240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FE2907-4C86-441D-878A-DDC4180AF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21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98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071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76BA-5635-9539-6037-58D2F3D2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EFBE58-2111-2E66-CE21-59BA1727A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538AE-A760-B622-A578-4C31BF57C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E1F42-3960-4D7C-43D3-EBCC1DF421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7537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63F55-DBB1-884B-6C56-85551B097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CABE7D-9373-5228-88BB-74C49363C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3DBE4-A85A-611B-E1D1-441B726B6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B2185-001B-3F7C-99B0-26C9C7A72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92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0D57C-F015-7B3C-E838-C350E499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CCBC9-911B-E9FC-B774-521C4E531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DF890-2B40-5F86-BC49-75CCF0470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20FE5-F83C-43C1-6D81-C6C246BADB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356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FE2907-4C86-441D-878A-DDC4180AF5C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2694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1210-342E-7EF2-4201-97ABB94C0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EB9DD-B18E-3D89-3A92-9158763AD1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952A97-6E7D-76D8-2357-A410F0C51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48062-0B80-7DC0-97FA-858DAEC1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6A814A-51E2-2DAD-68EA-4B86931F1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8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132A-5B40-16F6-71FA-03C4340D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8FBB5-E345-0B1D-83A2-6D0CB6BBB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167B-2B8A-F7A1-5F7A-F94034B0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CBA86-32C0-0570-A10E-55BBF4435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D4DB1-48B2-7F82-8131-82AF70F5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08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68C7D-19AA-3527-511A-CA3FA4FBB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7C44D-8E3E-223D-A85F-CA2E325E8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8461-F396-9A8F-C6EB-17D2D37C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C62AD-737E-C5D7-7CEF-F0ECE26F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4DD46-1BB6-65D3-DF38-B8135D840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00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ED4E-63CB-8FB5-6C2A-83B9172D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67812-9ECC-DD06-6CE7-588EF6B79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92DB9-4E05-BCE1-404A-6B7D53D9C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2A4CFC-2EE2-EFA0-0912-02E24B08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C10D5-71AC-722B-CD3F-CB40B696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B4AB-8757-7C48-65DD-0113D2FE7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103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98B29-F3C5-9B5B-44AB-3C86EFFEA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EDB83-6D3A-94B2-06C5-7ED1F2059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03D41-E46C-E8AE-8A4B-D3774747F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A0F8F-9254-4F79-D17A-134719BB8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5ED260-DFD3-F77A-3C39-702C018F8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CBB51-0B69-CACA-C9AE-A927571F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3AD179-53C9-573D-92C6-FB34A4BD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6F42EF-6758-9199-6ABA-C400EC7E5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477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3748-DB59-B60F-2B3B-E03BCDA92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C0E5C-51F1-1411-F6B4-85682706D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8EE268-0A4F-7982-A9E3-A016916CB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4FDC9-BCF9-093B-6BC3-ECFF5B4E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302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A968D-1D55-AE88-2BE1-2622FB6A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A99E3-54F9-70ED-DAB0-30C233F88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FA36C-9D93-2621-1107-219D076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656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8913E-DFF0-86D6-E846-AD2D23E6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79D85-86D3-4CA2-DB59-E04571579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F8CA3B-80A1-02A4-48DD-2EE18FC77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69920-6B7E-598E-BE45-4A303FBF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FBE1F-E778-CCE9-D6A9-FDBEF11D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AC589-F773-D1BB-9183-6E55374F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505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1C75-74CA-496E-E895-52FDDB78F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646FDF-87DB-8AAE-E624-97150ACEAF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15D78-1FB7-49ED-DC25-F2CEA6328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1CE8C-BECA-7287-2CF7-313D72C13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FE91E-9917-ADE4-981B-7D981DCD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E70CD-E3DF-8B88-9D9C-3C796E002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083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70A74-18B6-C0F9-024C-9DB1D885E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CF01FA-65E3-0D2D-27D0-5DD5187B1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82550-C249-DB2A-9BA6-051938031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082F7-3ED2-A3F6-5F73-0D318BFA4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0ED28-E553-C947-A4D9-DBBF84EE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811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7E2FA-1DF9-A0FA-F679-32DB1C42D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99B15E-5090-2BF1-FEA3-5FDC0C2BF1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D1DB9-D46C-FE70-D13A-52A3E7F50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713EC-2F3C-3D62-435C-2F04EEBF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1CFB6-2980-6E9E-399E-75A94A9C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561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14F829-80AD-6FED-9683-E6EE7EC96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262AE-BD05-B654-83AE-482FEBC3F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C9E44-3FAC-5401-C41C-8A6DF2B1A9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01D7E-8DBA-4921-9DFD-22FC9F854AD2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460A0-4B6B-347A-7E87-32BC5D568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F7A51-C75A-7CD1-6F38-4C2367490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0BAD40-415D-45F2-8EEA-777243A21F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769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1920x1080] Money Heist (La Casa de Papel) : r/wallpaper">
            <a:extLst>
              <a:ext uri="{FF2B5EF4-FFF2-40B4-BE49-F238E27FC236}">
                <a16:creationId xmlns:a16="http://schemas.microsoft.com/office/drawing/2014/main" id="{F533C1ED-54B6-9B7A-54A4-96D29C7404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442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BB101C-27C0-4BC3-36E5-2E10B4B88FCA}"/>
              </a:ext>
            </a:extLst>
          </p:cNvPr>
          <p:cNvSpPr>
            <a:spLocks/>
          </p:cNvSpPr>
          <p:nvPr/>
        </p:nvSpPr>
        <p:spPr>
          <a:xfrm>
            <a:off x="0" y="0"/>
            <a:ext cx="13539019" cy="6941574"/>
          </a:xfrm>
          <a:prstGeom prst="rect">
            <a:avLst/>
          </a:prstGeom>
          <a:gradFill flip="none" rotWithShape="1">
            <a:gsLst>
              <a:gs pos="26000">
                <a:srgbClr val="1E1E1E">
                  <a:alpha val="88000"/>
                </a:srgbClr>
              </a:gs>
              <a:gs pos="0">
                <a:srgbClr val="141414"/>
              </a:gs>
              <a:gs pos="11180">
                <a:srgbClr val="0D0D0D"/>
              </a:gs>
              <a:gs pos="0">
                <a:schemeClr val="tx1"/>
              </a:gs>
              <a:gs pos="93007">
                <a:schemeClr val="bg1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000" dirty="0">
              <a:latin typeface="Felix Titling" panose="04060505060202020A04" pitchFamily="8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98A0E9-E8EB-E016-200F-58A73753A73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05350" y="482087"/>
            <a:ext cx="146009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THE</a:t>
            </a:r>
            <a:endParaRPr lang="en-IN" sz="2800" b="1" spc="10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250719-0488-9671-9AA5-D13E61B9F40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68449" y="2105601"/>
            <a:ext cx="260211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SYSTEM</a:t>
            </a:r>
            <a:endParaRPr lang="en-IN" sz="2800" b="1" spc="10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04CE00-CB96-7812-4EE3-ED23A23F851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14435" y="1005307"/>
            <a:ext cx="750201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SMART BANKING </a:t>
            </a:r>
            <a:endParaRPr lang="en-IN" sz="6000" b="1" dirty="0">
              <a:solidFill>
                <a:srgbClr val="FF0000"/>
              </a:solidFill>
              <a:latin typeface="Felix Titling" panose="04060505060202020A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374EF8-25E4-B72C-5749-5AE828076DF0}"/>
              </a:ext>
            </a:extLst>
          </p:cNvPr>
          <p:cNvSpPr txBox="1">
            <a:spLocks/>
          </p:cNvSpPr>
          <p:nvPr/>
        </p:nvSpPr>
        <p:spPr>
          <a:xfrm>
            <a:off x="304799" y="4395788"/>
            <a:ext cx="5163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RAJU CHOUDHARY:1262253997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KRISHNA RAJPUT: 1262254099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MAKARAND ARU: 1262251680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PRATIK KOTHARE: 1262253640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RAJVEER WAGH: 1262253065</a:t>
            </a:r>
            <a:endParaRPr lang="en-IN" sz="2000" spc="2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215FF-F91C-2781-1C8C-A9ECDF65DEF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4799" y="3787937"/>
            <a:ext cx="428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Felix Titling" panose="04060505060202020A04" pitchFamily="82" charset="0"/>
              </a:rPr>
              <a:t>TEAM </a:t>
            </a:r>
            <a:r>
              <a:rPr lang="en-US" sz="2800" b="1" dirty="0">
                <a:solidFill>
                  <a:srgbClr val="FF0000"/>
                </a:solidFill>
                <a:latin typeface="Felix Titling" panose="04060505060202020A04" pitchFamily="82" charset="0"/>
              </a:rPr>
              <a:t>MEMBERS</a:t>
            </a:r>
            <a:r>
              <a:rPr lang="en-US" sz="2800" b="1" dirty="0">
                <a:solidFill>
                  <a:schemeClr val="bg1"/>
                </a:solidFill>
                <a:latin typeface="Felix Titling" panose="04060505060202020A04" pitchFamily="82" charset="0"/>
              </a:rPr>
              <a:t>:</a:t>
            </a:r>
            <a:endParaRPr lang="en-IN" sz="2800" b="1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3500E77-4DC3-DBF7-1E95-42172A9FF688}"/>
              </a:ext>
            </a:extLst>
          </p:cNvPr>
          <p:cNvGrpSpPr/>
          <p:nvPr/>
        </p:nvGrpSpPr>
        <p:grpSpPr>
          <a:xfrm>
            <a:off x="914149" y="10905356"/>
            <a:ext cx="9730154" cy="6898737"/>
            <a:chOff x="559592" y="202655"/>
            <a:chExt cx="9730154" cy="6898737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A50EAEA-4A61-35E3-621A-744BBD2D97B4}"/>
                </a:ext>
              </a:extLst>
            </p:cNvPr>
            <p:cNvSpPr txBox="1"/>
            <p:nvPr/>
          </p:nvSpPr>
          <p:spPr>
            <a:xfrm>
              <a:off x="559593" y="202655"/>
              <a:ext cx="46540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3600" b="1" dirty="0">
                  <a:solidFill>
                    <a:srgbClr val="FF0000"/>
                  </a:solidFill>
                  <a:latin typeface="Felix Titling" panose="04060505060202020A04" pitchFamily="82" charset="0"/>
                </a:rPr>
                <a:t>INTRODUCTION: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EF32F3-14C2-F8BE-8CF6-F0FE34B09D04}"/>
                </a:ext>
              </a:extLst>
            </p:cNvPr>
            <p:cNvSpPr txBox="1">
              <a:spLocks/>
            </p:cNvSpPr>
            <p:nvPr/>
          </p:nvSpPr>
          <p:spPr>
            <a:xfrm>
              <a:off x="559592" y="847699"/>
              <a:ext cx="8138932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The </a:t>
              </a:r>
              <a:r>
                <a:rPr lang="en-US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Smart Bank Management System</a:t>
              </a:r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 is a console-based application developed using the C programming language to simulate modern banking operations in a simple and efficient way.</a:t>
              </a:r>
            </a:p>
            <a:p>
              <a:endParaRPr lang="en-US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This system is designed to provide smart and secure banking features such as:</a:t>
              </a:r>
              <a:r>
                <a:rPr lang="en-US" dirty="0">
                  <a:latin typeface="Georgia" panose="02040502050405020303" pitchFamily="18" charset="0"/>
                </a:rPr>
                <a:t>:</a:t>
              </a:r>
            </a:p>
            <a:p>
              <a:endParaRPr lang="en-IN" sz="2000" dirty="0">
                <a:solidFill>
                  <a:schemeClr val="bg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238B9AC-CB3B-0E52-AEE5-560DD4191A37}"/>
                </a:ext>
              </a:extLst>
            </p:cNvPr>
            <p:cNvSpPr txBox="1"/>
            <p:nvPr/>
          </p:nvSpPr>
          <p:spPr>
            <a:xfrm>
              <a:off x="559592" y="5070067"/>
              <a:ext cx="9730154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The objective of this project is to demonstrate how real-world banking systems manage customer accounts, ensure security, and handle transactions efficiently using programming concepts like arrays, structures, and functions.</a:t>
              </a:r>
            </a:p>
            <a:p>
              <a:endParaRPr lang="en-US" dirty="0">
                <a:solidFill>
                  <a:schemeClr val="bg1"/>
                </a:solidFill>
                <a:latin typeface="Georgia" panose="02040502050405020303" pitchFamily="18" charset="0"/>
              </a:endParaRPr>
            </a:p>
            <a:p>
              <a:r>
                <a:rPr lang="en-US" dirty="0">
                  <a:solidFill>
                    <a:schemeClr val="bg1"/>
                  </a:solidFill>
                  <a:latin typeface="Georgia" panose="02040502050405020303" pitchFamily="18" charset="0"/>
                </a:rPr>
                <a:t>This project represents a simplified model of digital banking solutions used in today’s banking environment</a:t>
              </a:r>
            </a:p>
            <a:p>
              <a:endParaRPr lang="en-IN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4AD1BE-A6FA-299D-3E87-4212D93F7F8A}"/>
                </a:ext>
              </a:extLst>
            </p:cNvPr>
            <p:cNvSpPr txBox="1"/>
            <p:nvPr/>
          </p:nvSpPr>
          <p:spPr>
            <a:xfrm>
              <a:off x="688547" y="2632803"/>
              <a:ext cx="9050215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Admin-controlled account creation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Customer login authentication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Deposit and withdrawal operations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Fund transfer between accounts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PIN change facility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Emergency account blocking</a:t>
              </a:r>
            </a:p>
            <a:p>
              <a:pPr marL="285750" indent="-2857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bg1"/>
                  </a:solidFill>
                  <a:latin typeface="Georgia" panose="02040502050405020303" pitchFamily="18" charset="0"/>
                </a:rPr>
                <a:t>Help and support request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222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2000">
              <a:srgbClr val="BF0904"/>
            </a:gs>
            <a:gs pos="93007">
              <a:schemeClr val="bg1">
                <a:lumMod val="75000"/>
                <a:alpha val="0"/>
              </a:schemeClr>
            </a:gs>
          </a:gsLst>
          <a:lin ang="8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7170D-FA72-E2EC-7084-0EE02E0DD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6B39A1B-A1D8-C34B-0E04-6E519CB7C541}"/>
              </a:ext>
            </a:extLst>
          </p:cNvPr>
          <p:cNvSpPr txBox="1">
            <a:spLocks/>
          </p:cNvSpPr>
          <p:nvPr/>
        </p:nvSpPr>
        <p:spPr>
          <a:xfrm>
            <a:off x="5905350" y="-7510446"/>
            <a:ext cx="1460092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THE</a:t>
            </a:r>
            <a:endParaRPr lang="en-IN" sz="2800" b="1" spc="10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597D90-8310-FDC6-F525-AC479F096EAB}"/>
              </a:ext>
            </a:extLst>
          </p:cNvPr>
          <p:cNvSpPr txBox="1">
            <a:spLocks/>
          </p:cNvSpPr>
          <p:nvPr/>
        </p:nvSpPr>
        <p:spPr>
          <a:xfrm>
            <a:off x="5468449" y="-5886932"/>
            <a:ext cx="260211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800" b="1" spc="1000" dirty="0">
                <a:solidFill>
                  <a:schemeClr val="bg1"/>
                </a:solidFill>
                <a:latin typeface="Felix Titling" panose="04060505060202020A04" pitchFamily="82" charset="0"/>
              </a:rPr>
              <a:t>SYSTEM</a:t>
            </a:r>
            <a:endParaRPr lang="en-IN" sz="2800" b="1" spc="10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1C1857-3B5D-6D83-546B-42592EE5AEC4}"/>
              </a:ext>
            </a:extLst>
          </p:cNvPr>
          <p:cNvSpPr txBox="1">
            <a:spLocks/>
          </p:cNvSpPr>
          <p:nvPr/>
        </p:nvSpPr>
        <p:spPr>
          <a:xfrm>
            <a:off x="3614435" y="-6987226"/>
            <a:ext cx="7502014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SMART BANKING </a:t>
            </a:r>
            <a:endParaRPr lang="en-IN" sz="6000" b="1" dirty="0">
              <a:solidFill>
                <a:srgbClr val="FF0000"/>
              </a:solidFill>
              <a:latin typeface="Felix Titling" panose="04060505060202020A04" pitchFamily="8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83F226-4094-BAF4-36C9-FD868BB07E71}"/>
              </a:ext>
            </a:extLst>
          </p:cNvPr>
          <p:cNvSpPr txBox="1">
            <a:spLocks/>
          </p:cNvSpPr>
          <p:nvPr/>
        </p:nvSpPr>
        <p:spPr>
          <a:xfrm>
            <a:off x="304799" y="-3596745"/>
            <a:ext cx="51636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RAJU CHOUDHARY:1262253997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PRATIK KOTHARE: 1262253640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MAKARAND ARU: 1262251680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KRISHNA RAJPUT: 1262254099</a:t>
            </a:r>
          </a:p>
          <a:p>
            <a:pPr>
              <a:spcAft>
                <a:spcPts val="600"/>
              </a:spcAft>
            </a:pPr>
            <a:r>
              <a:rPr lang="en-US" sz="2000" spc="200" dirty="0">
                <a:solidFill>
                  <a:schemeClr val="bg1"/>
                </a:solidFill>
                <a:latin typeface="Felix Titling" panose="04060505060202020A04" pitchFamily="82" charset="0"/>
              </a:rPr>
              <a:t>RAJVEER WAGH: 1262253065</a:t>
            </a:r>
            <a:endParaRPr lang="en-IN" sz="2000" spc="200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A6E260-4EB4-E06C-9A57-3A2C37F2C34E}"/>
              </a:ext>
            </a:extLst>
          </p:cNvPr>
          <p:cNvSpPr txBox="1">
            <a:spLocks/>
          </p:cNvSpPr>
          <p:nvPr/>
        </p:nvSpPr>
        <p:spPr>
          <a:xfrm>
            <a:off x="304799" y="-4204596"/>
            <a:ext cx="42868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Felix Titling" panose="04060505060202020A04" pitchFamily="82" charset="0"/>
              </a:rPr>
              <a:t>TEAM MEMBERS:</a:t>
            </a:r>
            <a:endParaRPr lang="en-IN" sz="2800" b="1" dirty="0">
              <a:solidFill>
                <a:schemeClr val="bg1"/>
              </a:solidFill>
              <a:latin typeface="Felix Titling" panose="04060505060202020A04" pitchFamily="8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CE63E0-D5C8-E522-FCFC-E3774D26CB9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625754" cy="701040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F858080A-8DC2-5935-EFE5-FCF9F6169C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879782" y="-813835"/>
            <a:ext cx="8846415" cy="8683217"/>
          </a:xfrm>
          <a:prstGeom prst="flowChartConnector">
            <a:avLst/>
          </a:prstGeom>
          <a:gradFill>
            <a:gsLst>
              <a:gs pos="0">
                <a:srgbClr val="BF0904"/>
              </a:gs>
              <a:gs pos="66000">
                <a:schemeClr val="tx1">
                  <a:alpha val="55000"/>
                </a:schemeClr>
              </a:gs>
            </a:gsLst>
            <a:lin ang="11400000" scaled="0"/>
          </a:gradFill>
          <a:ln w="12700">
            <a:gradFill flip="none" rotWithShape="1">
              <a:gsLst>
                <a:gs pos="0">
                  <a:srgbClr val="BF0904"/>
                </a:gs>
                <a:gs pos="96000">
                  <a:srgbClr val="3C0301"/>
                </a:gs>
              </a:gsLst>
              <a:lin ang="8100000" scaled="1"/>
              <a:tileRect/>
            </a:gra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345A24-AF82-3A1F-D455-6EB493191EB1}"/>
              </a:ext>
            </a:extLst>
          </p:cNvPr>
          <p:cNvSpPr txBox="1"/>
          <p:nvPr/>
        </p:nvSpPr>
        <p:spPr>
          <a:xfrm>
            <a:off x="688547" y="2506739"/>
            <a:ext cx="905021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Admin-controlled account creation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Customer login authentication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Deposit and withdrawal operations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Fund transfer between accounts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PIN change facility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Emergency account blocking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Help and support request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54632C-8678-4551-C9B3-8D852EA44273}"/>
              </a:ext>
            </a:extLst>
          </p:cNvPr>
          <p:cNvSpPr txBox="1">
            <a:spLocks/>
          </p:cNvSpPr>
          <p:nvPr/>
        </p:nvSpPr>
        <p:spPr>
          <a:xfrm>
            <a:off x="559592" y="847699"/>
            <a:ext cx="813893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The </a:t>
            </a:r>
            <a:r>
              <a:rPr lang="en-US" b="1" dirty="0">
                <a:solidFill>
                  <a:schemeClr val="bg1"/>
                </a:solidFill>
                <a:latin typeface="Georgia" panose="02040502050405020303" pitchFamily="18" charset="0"/>
              </a:rPr>
              <a:t>Smart Bank Management System</a:t>
            </a:r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 is a console-based application developed using the C programming language to simulate modern banking operations in a simple and efficient way.</a:t>
            </a:r>
          </a:p>
          <a:p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This system is designed to provide smart and secure banking features such as:</a:t>
            </a:r>
            <a:r>
              <a:rPr lang="en-US" dirty="0">
                <a:latin typeface="Georgia" panose="02040502050405020303" pitchFamily="18" charset="0"/>
              </a:rPr>
              <a:t>: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AC8FB-231E-13FD-3CB2-9E8BF43E757F}"/>
              </a:ext>
            </a:extLst>
          </p:cNvPr>
          <p:cNvSpPr txBox="1"/>
          <p:nvPr/>
        </p:nvSpPr>
        <p:spPr>
          <a:xfrm>
            <a:off x="559592" y="5070067"/>
            <a:ext cx="97301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The objective of this project is to demonstrate how real-world banking systems manage customer accounts, ensure security, and handle transactions efficiently using programming concepts like arrays, structures, and functions.</a:t>
            </a:r>
          </a:p>
          <a:p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This project represents a simplified model of digital banking solutions used in today’s banking environment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92439-27B4-331D-39D8-3270F2258A63}"/>
              </a:ext>
            </a:extLst>
          </p:cNvPr>
          <p:cNvSpPr txBox="1"/>
          <p:nvPr/>
        </p:nvSpPr>
        <p:spPr>
          <a:xfrm>
            <a:off x="559593" y="202655"/>
            <a:ext cx="4654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Felix Titling" panose="04060505060202020A04" pitchFamily="82" charset="0"/>
              </a:rPr>
              <a:t>INTRODUCTION:</a:t>
            </a:r>
          </a:p>
        </p:txBody>
      </p:sp>
    </p:spTree>
    <p:extLst>
      <p:ext uri="{BB962C8B-B14F-4D97-AF65-F5344CB8AC3E}">
        <p14:creationId xmlns:p14="http://schemas.microsoft.com/office/powerpoint/2010/main" val="3134895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B7BB37-0BB6-556D-AB9A-92C536842E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7139354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05B04-1916-2047-B7EB-EF4FB9E41333}"/>
              </a:ext>
            </a:extLst>
          </p:cNvPr>
          <p:cNvSpPr txBox="1"/>
          <p:nvPr/>
        </p:nvSpPr>
        <p:spPr>
          <a:xfrm>
            <a:off x="269631" y="237153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Problem statement:</a:t>
            </a:r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9E5342AE-509E-DC2C-82BE-79D1CBB99F6B}"/>
              </a:ext>
            </a:extLst>
          </p:cNvPr>
          <p:cNvSpPr/>
          <p:nvPr/>
        </p:nvSpPr>
        <p:spPr>
          <a:xfrm>
            <a:off x="7019290" y="-604833"/>
            <a:ext cx="8846415" cy="8683217"/>
          </a:xfrm>
          <a:prstGeom prst="flowChartConnector">
            <a:avLst/>
          </a:prstGeom>
          <a:gradFill>
            <a:gsLst>
              <a:gs pos="0">
                <a:srgbClr val="BF0904"/>
              </a:gs>
              <a:gs pos="66000">
                <a:schemeClr val="tx1">
                  <a:alpha val="55000"/>
                </a:schemeClr>
              </a:gs>
            </a:gsLst>
            <a:lin ang="0" scaled="0"/>
          </a:gradFill>
          <a:ln w="12700">
            <a:gradFill flip="none" rotWithShape="1">
              <a:gsLst>
                <a:gs pos="0">
                  <a:srgbClr val="BF0904"/>
                </a:gs>
                <a:gs pos="96000">
                  <a:srgbClr val="3C0301"/>
                </a:gs>
              </a:gsLst>
              <a:lin ang="8100000" scaled="1"/>
              <a:tileRect/>
            </a:gradFill>
          </a:ln>
          <a:effectLst>
            <a:softEdge rad="127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9159F3-9667-6E10-0853-6C3E121116C4}"/>
              </a:ext>
            </a:extLst>
          </p:cNvPr>
          <p:cNvSpPr txBox="1"/>
          <p:nvPr/>
        </p:nvSpPr>
        <p:spPr>
          <a:xfrm>
            <a:off x="269631" y="1224797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In traditional banking systems, managing customer accounts and transactions manually can be time-consuming, error-prone, and inefficient.</a:t>
            </a:r>
          </a:p>
          <a:p>
            <a:endParaRPr lang="en-US" sz="20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There is a need for a simple and secure system that can:</a:t>
            </a:r>
            <a:endParaRPr lang="en-IN" sz="2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9BF80D-8965-384A-0EB1-5197BC3EF971}"/>
              </a:ext>
            </a:extLst>
          </p:cNvPr>
          <p:cNvSpPr txBox="1"/>
          <p:nvPr/>
        </p:nvSpPr>
        <p:spPr>
          <a:xfrm>
            <a:off x="269631" y="2959640"/>
            <a:ext cx="8311661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Georgia" panose="02040502050405020303" pitchFamily="18" charset="0"/>
              </a:rPr>
              <a:t>Store customer account details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Georgia" panose="02040502050405020303" pitchFamily="18" charset="0"/>
              </a:rPr>
              <a:t>Perform banking transactions accurately</a:t>
            </a: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Provide controlled access to admin and customers</a:t>
            </a:r>
            <a:endParaRPr lang="en-IN" sz="2000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marL="285750" indent="-180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Ensure basic account security features</a:t>
            </a:r>
            <a:endParaRPr lang="en-IN" sz="2000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51B210-F9D6-1274-97CC-11ED4603FD67}"/>
              </a:ext>
            </a:extLst>
          </p:cNvPr>
          <p:cNvSpPr txBox="1"/>
          <p:nvPr/>
        </p:nvSpPr>
        <p:spPr>
          <a:xfrm>
            <a:off x="269631" y="5118747"/>
            <a:ext cx="114886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Therefore, we developed a </a:t>
            </a:r>
            <a:r>
              <a:rPr lang="en-US" sz="2000" b="1" dirty="0">
                <a:solidFill>
                  <a:schemeClr val="bg1"/>
                </a:solidFill>
                <a:latin typeface="Georgia" panose="02040502050405020303" pitchFamily="18" charset="0"/>
              </a:rPr>
              <a:t>Smart Bank Management System</a:t>
            </a:r>
            <a:r>
              <a:rPr lang="en-US" sz="2000" dirty="0">
                <a:solidFill>
                  <a:schemeClr val="bg1"/>
                </a:solidFill>
                <a:latin typeface="Georgia" panose="02040502050405020303" pitchFamily="18" charset="0"/>
              </a:rPr>
              <a:t> that simulates real-world banking operations in a structured and user-friendly manner using C programming.</a:t>
            </a:r>
          </a:p>
        </p:txBody>
      </p:sp>
    </p:spTree>
    <p:extLst>
      <p:ext uri="{BB962C8B-B14F-4D97-AF65-F5344CB8AC3E}">
        <p14:creationId xmlns:p14="http://schemas.microsoft.com/office/powerpoint/2010/main" val="43604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70F825-84B7-9BE4-7E2E-8951CE5E61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4102" name="Picture 6" descr="Lava Flow Background Stock Photos, Images and Backgrounds for Free Download">
            <a:extLst>
              <a:ext uri="{FF2B5EF4-FFF2-40B4-BE49-F238E27FC236}">
                <a16:creationId xmlns:a16="http://schemas.microsoft.com/office/drawing/2014/main" id="{39480501-A60A-7359-C1C9-A83B57C0AB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46429" cy="7550727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  <a:softEdge rad="12700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6434BA-7BC8-E813-AD79-9C17B55BE6BF}"/>
              </a:ext>
            </a:extLst>
          </p:cNvPr>
          <p:cNvSpPr txBox="1">
            <a:spLocks/>
          </p:cNvSpPr>
          <p:nvPr/>
        </p:nvSpPr>
        <p:spPr>
          <a:xfrm>
            <a:off x="4236348" y="840767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81940FD-5B31-1473-3F8B-EBCA89A9D4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9DA38C-25CA-1845-F4B5-D10A6C04197A}"/>
              </a:ext>
            </a:extLst>
          </p:cNvPr>
          <p:cNvSpPr txBox="1">
            <a:spLocks/>
          </p:cNvSpPr>
          <p:nvPr/>
        </p:nvSpPr>
        <p:spPr>
          <a:xfrm>
            <a:off x="2466109" y="4121727"/>
            <a:ext cx="6594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design a smart banking</a:t>
            </a:r>
          </a:p>
          <a:p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           simulation system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B2D7817D-884F-DFFE-5BA4-8505D0D2EA4F}"/>
              </a:ext>
            </a:extLst>
          </p:cNvPr>
          <p:cNvSpPr/>
          <p:nvPr/>
        </p:nvSpPr>
        <p:spPr>
          <a:xfrm>
            <a:off x="5534890" y="30973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5B7E8-F791-383A-90DD-B68E0E5E5B23}"/>
              </a:ext>
            </a:extLst>
          </p:cNvPr>
          <p:cNvSpPr txBox="1">
            <a:spLocks/>
          </p:cNvSpPr>
          <p:nvPr/>
        </p:nvSpPr>
        <p:spPr>
          <a:xfrm>
            <a:off x="5624342" y="2188858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1.</a:t>
            </a:r>
          </a:p>
        </p:txBody>
      </p:sp>
      <p:pic>
        <p:nvPicPr>
          <p:cNvPr id="1026" name="Picture 2" descr="Red and black Fire flames wallpapers - PixelsTalk">
            <a:extLst>
              <a:ext uri="{FF2B5EF4-FFF2-40B4-BE49-F238E27FC236}">
                <a16:creationId xmlns:a16="http://schemas.microsoft.com/office/drawing/2014/main" id="{5AEE04C7-F119-33F0-3984-06C03982DE5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9283" y="138206"/>
            <a:ext cx="12192000" cy="68326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D3AE20FF-607C-0205-BA8C-3C6C89E620CB}"/>
              </a:ext>
            </a:extLst>
          </p:cNvPr>
          <p:cNvSpPr txBox="1">
            <a:spLocks/>
          </p:cNvSpPr>
          <p:nvPr/>
        </p:nvSpPr>
        <p:spPr>
          <a:xfrm>
            <a:off x="16711376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0B444B-1E31-7DE0-4DC6-EFC9101E922F}"/>
              </a:ext>
            </a:extLst>
          </p:cNvPr>
          <p:cNvSpPr txBox="1">
            <a:spLocks/>
          </p:cNvSpPr>
          <p:nvPr/>
        </p:nvSpPr>
        <p:spPr>
          <a:xfrm>
            <a:off x="18018083" y="2206920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2.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E2726D90-FD3B-FE50-A948-32B8FBD10174}"/>
              </a:ext>
            </a:extLst>
          </p:cNvPr>
          <p:cNvSpPr>
            <a:spLocks/>
          </p:cNvSpPr>
          <p:nvPr/>
        </p:nvSpPr>
        <p:spPr>
          <a:xfrm>
            <a:off x="18018083" y="306555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3EA155-76F1-79C3-1953-A28B2725E6D8}"/>
              </a:ext>
            </a:extLst>
          </p:cNvPr>
          <p:cNvSpPr txBox="1">
            <a:spLocks/>
          </p:cNvSpPr>
          <p:nvPr/>
        </p:nvSpPr>
        <p:spPr>
          <a:xfrm>
            <a:off x="-9526139" y="3938295"/>
            <a:ext cx="6594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implement secure admin</a:t>
            </a:r>
          </a:p>
          <a:p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     and customer login</a:t>
            </a:r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92AA35D5-22C5-4D5E-FF2D-B5CCAE5FFE14}"/>
              </a:ext>
            </a:extLst>
          </p:cNvPr>
          <p:cNvCxnSpPr>
            <a:cxnSpLocks/>
          </p:cNvCxnSpPr>
          <p:nvPr/>
        </p:nvCxnSpPr>
        <p:spPr>
          <a:xfrm>
            <a:off x="5763490" y="3294152"/>
            <a:ext cx="30800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183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61CC-6BD8-A25D-3564-A6DF40695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72898F-C073-A196-EF0B-3F1D8CB0E6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1026" name="Picture 2" descr="Red and black Fire flames wallpapers - PixelsTalk">
            <a:extLst>
              <a:ext uri="{FF2B5EF4-FFF2-40B4-BE49-F238E27FC236}">
                <a16:creationId xmlns:a16="http://schemas.microsoft.com/office/drawing/2014/main" id="{CA7EA73B-371B-979E-2D15-ED5B842BE7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019" y="138206"/>
            <a:ext cx="12192000" cy="68326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Lava Flow Background Stock Photos, Images and Backgrounds for Free Download">
            <a:extLst>
              <a:ext uri="{FF2B5EF4-FFF2-40B4-BE49-F238E27FC236}">
                <a16:creationId xmlns:a16="http://schemas.microsoft.com/office/drawing/2014/main" id="{66AE0FE0-45C6-A867-61EF-368F9333EB7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15798" y="0"/>
            <a:ext cx="12246429" cy="7550727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  <a:softEdge rad="1270000"/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674C21-1617-1742-A86C-9C75C1500CC9}"/>
              </a:ext>
            </a:extLst>
          </p:cNvPr>
          <p:cNvSpPr txBox="1">
            <a:spLocks/>
          </p:cNvSpPr>
          <p:nvPr/>
        </p:nvSpPr>
        <p:spPr>
          <a:xfrm>
            <a:off x="-8232734" y="840767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6E6E5B2-EEA5-8D85-5133-FD82FEC77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7A4C76-E2FF-DB29-EA13-45BC83BB81AC}"/>
              </a:ext>
            </a:extLst>
          </p:cNvPr>
          <p:cNvSpPr txBox="1">
            <a:spLocks/>
          </p:cNvSpPr>
          <p:nvPr/>
        </p:nvSpPr>
        <p:spPr>
          <a:xfrm>
            <a:off x="14790866" y="4146977"/>
            <a:ext cx="6594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design a smart banking</a:t>
            </a:r>
          </a:p>
          <a:p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           simulation system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34B8EC7-504B-B643-E7BE-B333CBFF6000}"/>
              </a:ext>
            </a:extLst>
          </p:cNvPr>
          <p:cNvSpPr/>
          <p:nvPr/>
        </p:nvSpPr>
        <p:spPr>
          <a:xfrm>
            <a:off x="-6913412" y="30973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1779D-97F1-F2EB-109B-D5D19AD4BC3F}"/>
              </a:ext>
            </a:extLst>
          </p:cNvPr>
          <p:cNvSpPr txBox="1">
            <a:spLocks/>
          </p:cNvSpPr>
          <p:nvPr/>
        </p:nvSpPr>
        <p:spPr>
          <a:xfrm>
            <a:off x="-6844740" y="2188858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1.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1EAC1F-2976-1CFA-D81D-4253416B0956}"/>
              </a:ext>
            </a:extLst>
          </p:cNvPr>
          <p:cNvSpPr txBox="1">
            <a:spLocks/>
          </p:cNvSpPr>
          <p:nvPr/>
        </p:nvSpPr>
        <p:spPr>
          <a:xfrm>
            <a:off x="4242294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52643-E5CA-3D5B-8A0E-7688C3FFBCF8}"/>
              </a:ext>
            </a:extLst>
          </p:cNvPr>
          <p:cNvSpPr txBox="1">
            <a:spLocks/>
          </p:cNvSpPr>
          <p:nvPr/>
        </p:nvSpPr>
        <p:spPr>
          <a:xfrm>
            <a:off x="5549001" y="2206920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2.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142A4509-9DCB-33EA-7638-FC26B28E3625}"/>
              </a:ext>
            </a:extLst>
          </p:cNvPr>
          <p:cNvSpPr>
            <a:spLocks/>
          </p:cNvSpPr>
          <p:nvPr/>
        </p:nvSpPr>
        <p:spPr>
          <a:xfrm>
            <a:off x="5569781" y="306555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7B44C2-A3C7-0620-043C-6B0B9D7B4145}"/>
              </a:ext>
            </a:extLst>
          </p:cNvPr>
          <p:cNvSpPr txBox="1">
            <a:spLocks/>
          </p:cNvSpPr>
          <p:nvPr/>
        </p:nvSpPr>
        <p:spPr>
          <a:xfrm>
            <a:off x="2798618" y="3963545"/>
            <a:ext cx="6594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implement secure admin</a:t>
            </a:r>
          </a:p>
          <a:p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     and customer login</a:t>
            </a:r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0D88542E-50C9-A40A-F11E-3FC256F93D13}"/>
              </a:ext>
            </a:extLst>
          </p:cNvPr>
          <p:cNvCxnSpPr>
            <a:cxnSpLocks/>
          </p:cNvCxnSpPr>
          <p:nvPr/>
        </p:nvCxnSpPr>
        <p:spPr>
          <a:xfrm>
            <a:off x="-6684812" y="3294152"/>
            <a:ext cx="30800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263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E9EB7-36D9-EA96-3738-43F575A9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AF464C-6BE5-2D99-F97A-95F71EAFF2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2050" name="Picture 2" descr="Red White Lightning Effect Art Black Background Abstraction 4K HD Abstract  Wallpapers | HD Wallpapers | ID #106754">
            <a:extLst>
              <a:ext uri="{FF2B5EF4-FFF2-40B4-BE49-F238E27FC236}">
                <a16:creationId xmlns:a16="http://schemas.microsoft.com/office/drawing/2014/main" id="{1231C546-9382-E7E0-9707-14F0052BDD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019" y="28739"/>
            <a:ext cx="12192000" cy="6858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d gray black background Images - Free Download on Freepik">
            <a:extLst>
              <a:ext uri="{FF2B5EF4-FFF2-40B4-BE49-F238E27FC236}">
                <a16:creationId xmlns:a16="http://schemas.microsoft.com/office/drawing/2014/main" id="{EFC0DDF5-702C-702E-1D27-0491E009F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4557" y="-55603"/>
            <a:ext cx="12195260" cy="6971074"/>
          </a:xfrm>
          <a:prstGeom prst="rect">
            <a:avLst/>
          </a:prstGeom>
          <a:noFill/>
          <a:effectLst>
            <a:softEdge rad="990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722FAE95-EC12-148E-9797-2F9096A0E7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1194E2-B321-0282-A947-6D9A492B74E6}"/>
              </a:ext>
            </a:extLst>
          </p:cNvPr>
          <p:cNvSpPr txBox="1">
            <a:spLocks/>
          </p:cNvSpPr>
          <p:nvPr/>
        </p:nvSpPr>
        <p:spPr>
          <a:xfrm>
            <a:off x="-9098131" y="4146978"/>
            <a:ext cx="7279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allow pin change and emergency account blocking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5F19A773-1299-6986-8740-93B0D276A03F}"/>
              </a:ext>
            </a:extLst>
          </p:cNvPr>
          <p:cNvSpPr/>
          <p:nvPr/>
        </p:nvSpPr>
        <p:spPr>
          <a:xfrm>
            <a:off x="5555676" y="30973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8E66B7-762B-CD5C-D426-0D2B2FAEDEC1}"/>
              </a:ext>
            </a:extLst>
          </p:cNvPr>
          <p:cNvSpPr txBox="1">
            <a:spLocks/>
          </p:cNvSpPr>
          <p:nvPr/>
        </p:nvSpPr>
        <p:spPr>
          <a:xfrm>
            <a:off x="5569781" y="2081686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3.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1822D9-27C9-C643-73A8-636D2FA7DFE9}"/>
              </a:ext>
            </a:extLst>
          </p:cNvPr>
          <p:cNvSpPr txBox="1">
            <a:spLocks/>
          </p:cNvSpPr>
          <p:nvPr/>
        </p:nvSpPr>
        <p:spPr>
          <a:xfrm>
            <a:off x="4242294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9FCD31A3-A182-713A-3A16-154C9A318DFC}"/>
              </a:ext>
            </a:extLst>
          </p:cNvPr>
          <p:cNvSpPr>
            <a:spLocks/>
          </p:cNvSpPr>
          <p:nvPr/>
        </p:nvSpPr>
        <p:spPr>
          <a:xfrm>
            <a:off x="18025021" y="306555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287EFD4D-DE41-3583-D9A8-C103BB289FE4}"/>
              </a:ext>
            </a:extLst>
          </p:cNvPr>
          <p:cNvCxnSpPr>
            <a:cxnSpLocks/>
          </p:cNvCxnSpPr>
          <p:nvPr/>
        </p:nvCxnSpPr>
        <p:spPr>
          <a:xfrm>
            <a:off x="5770428" y="3294152"/>
            <a:ext cx="30800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FF482C-70C9-0A59-1AC2-BA345B252DB7}"/>
              </a:ext>
            </a:extLst>
          </p:cNvPr>
          <p:cNvSpPr txBox="1"/>
          <p:nvPr/>
        </p:nvSpPr>
        <p:spPr>
          <a:xfrm>
            <a:off x="2719527" y="4260793"/>
            <a:ext cx="6586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perform operations like </a:t>
            </a:r>
            <a:r>
              <a:rPr lang="en-IN" sz="3200" dirty="0" err="1">
                <a:solidFill>
                  <a:schemeClr val="bg1"/>
                </a:solidFill>
                <a:latin typeface="Felix Titling" panose="04060505060202020A04" pitchFamily="82" charset="0"/>
              </a:rPr>
              <a:t>deposit,withdrawal,and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fund transfer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41A26-D864-8327-CB6D-EB02CF14C41E}"/>
              </a:ext>
            </a:extLst>
          </p:cNvPr>
          <p:cNvSpPr txBox="1">
            <a:spLocks/>
          </p:cNvSpPr>
          <p:nvPr/>
        </p:nvSpPr>
        <p:spPr>
          <a:xfrm>
            <a:off x="16656431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19E36F-EBCA-36C7-4A2E-967AD5B08B7B}"/>
              </a:ext>
            </a:extLst>
          </p:cNvPr>
          <p:cNvSpPr txBox="1">
            <a:spLocks/>
          </p:cNvSpPr>
          <p:nvPr/>
        </p:nvSpPr>
        <p:spPr>
          <a:xfrm>
            <a:off x="18005119" y="2141232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4.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8516D5-FA7E-DB1C-FBA8-56CAA7E2DE15}"/>
              </a:ext>
            </a:extLst>
          </p:cNvPr>
          <p:cNvCxnSpPr>
            <a:cxnSpLocks/>
          </p:cNvCxnSpPr>
          <p:nvPr/>
        </p:nvCxnSpPr>
        <p:spPr>
          <a:xfrm>
            <a:off x="-1818706" y="3294152"/>
            <a:ext cx="758913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299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DB46D-BE40-E1D3-ED5D-C9351CC82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2E3EE48-2D32-7129-E033-925AB57AC0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2050" name="Picture 2" descr="Red White Lightning Effect Art Black Background Abstraction 4K HD Abstract  Wallpapers | HD Wallpapers | ID #106754">
            <a:extLst>
              <a:ext uri="{FF2B5EF4-FFF2-40B4-BE49-F238E27FC236}">
                <a16:creationId xmlns:a16="http://schemas.microsoft.com/office/drawing/2014/main" id="{675F05D1-A696-C1FD-F9FE-EC85523142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579671" y="28739"/>
            <a:ext cx="12192000" cy="6858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d gray black background Images - Free Download on Freepik">
            <a:extLst>
              <a:ext uri="{FF2B5EF4-FFF2-40B4-BE49-F238E27FC236}">
                <a16:creationId xmlns:a16="http://schemas.microsoft.com/office/drawing/2014/main" id="{E198306C-B1D9-2A68-9F3D-ADF2D93A2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6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05" y="-55603"/>
            <a:ext cx="12195260" cy="6971074"/>
          </a:xfrm>
          <a:prstGeom prst="rect">
            <a:avLst/>
          </a:prstGeom>
          <a:noFill/>
          <a:effectLst>
            <a:softEdge rad="9906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6B3B90CC-2831-4A41-E15D-E06ECDBD82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342F34-3D61-5E86-B0B9-4123511E8ACA}"/>
              </a:ext>
            </a:extLst>
          </p:cNvPr>
          <p:cNvSpPr txBox="1">
            <a:spLocks/>
          </p:cNvSpPr>
          <p:nvPr/>
        </p:nvSpPr>
        <p:spPr>
          <a:xfrm>
            <a:off x="2269517" y="4146978"/>
            <a:ext cx="72794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Georgia" panose="02040502050405020303" pitchFamily="18" charset="0"/>
              </a:rPr>
              <a:t>    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allow pin change and emergency account blocking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CF3A3CF0-BCF2-11F2-4818-5551945A3966}"/>
              </a:ext>
            </a:extLst>
          </p:cNvPr>
          <p:cNvSpPr/>
          <p:nvPr/>
        </p:nvSpPr>
        <p:spPr>
          <a:xfrm>
            <a:off x="-6871846" y="3097306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AB7CF-78CA-B8F9-F156-F228E82D638C}"/>
              </a:ext>
            </a:extLst>
          </p:cNvPr>
          <p:cNvSpPr txBox="1">
            <a:spLocks/>
          </p:cNvSpPr>
          <p:nvPr/>
        </p:nvSpPr>
        <p:spPr>
          <a:xfrm>
            <a:off x="-6857741" y="2081686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3.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1E67FB-D1F6-47AD-CA55-AF25DA96A35B}"/>
              </a:ext>
            </a:extLst>
          </p:cNvPr>
          <p:cNvSpPr txBox="1">
            <a:spLocks/>
          </p:cNvSpPr>
          <p:nvPr/>
        </p:nvSpPr>
        <p:spPr>
          <a:xfrm>
            <a:off x="4242294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88D2236D-0D71-2D3E-4841-768C0B558B4C}"/>
              </a:ext>
            </a:extLst>
          </p:cNvPr>
          <p:cNvSpPr>
            <a:spLocks/>
          </p:cNvSpPr>
          <p:nvPr/>
        </p:nvSpPr>
        <p:spPr>
          <a:xfrm>
            <a:off x="5597499" y="3065552"/>
            <a:ext cx="457200" cy="457200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4113" name="Straight Connector 4112">
            <a:extLst>
              <a:ext uri="{FF2B5EF4-FFF2-40B4-BE49-F238E27FC236}">
                <a16:creationId xmlns:a16="http://schemas.microsoft.com/office/drawing/2014/main" id="{4E785803-582A-C0B6-D567-FF03E17D48DC}"/>
              </a:ext>
            </a:extLst>
          </p:cNvPr>
          <p:cNvCxnSpPr>
            <a:cxnSpLocks/>
          </p:cNvCxnSpPr>
          <p:nvPr/>
        </p:nvCxnSpPr>
        <p:spPr>
          <a:xfrm>
            <a:off x="-6657094" y="3294152"/>
            <a:ext cx="3080093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017473D-61BE-2E01-F115-B59A14F6E2A2}"/>
              </a:ext>
            </a:extLst>
          </p:cNvPr>
          <p:cNvSpPr txBox="1"/>
          <p:nvPr/>
        </p:nvSpPr>
        <p:spPr>
          <a:xfrm>
            <a:off x="14087175" y="4260793"/>
            <a:ext cx="65866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perform operations like </a:t>
            </a:r>
            <a:r>
              <a:rPr lang="en-IN" sz="3200" dirty="0" err="1">
                <a:solidFill>
                  <a:schemeClr val="bg1"/>
                </a:solidFill>
                <a:latin typeface="Felix Titling" panose="04060505060202020A04" pitchFamily="82" charset="0"/>
              </a:rPr>
              <a:t>deposit,withdrawal,and</a:t>
            </a:r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 fund transfer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28A95-A6C7-85CE-E455-8332E4ECB3E4}"/>
              </a:ext>
            </a:extLst>
          </p:cNvPr>
          <p:cNvSpPr txBox="1">
            <a:spLocks/>
          </p:cNvSpPr>
          <p:nvPr/>
        </p:nvSpPr>
        <p:spPr>
          <a:xfrm>
            <a:off x="16656431" y="856644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E62D9-A932-E9D8-C01C-36313A9C14E9}"/>
              </a:ext>
            </a:extLst>
          </p:cNvPr>
          <p:cNvSpPr txBox="1">
            <a:spLocks/>
          </p:cNvSpPr>
          <p:nvPr/>
        </p:nvSpPr>
        <p:spPr>
          <a:xfrm>
            <a:off x="5577597" y="2141232"/>
            <a:ext cx="1610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bg1"/>
                </a:solidFill>
                <a:latin typeface="Felix Titling" panose="04060505060202020A04" pitchFamily="82" charset="0"/>
              </a:rPr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622220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3477D9-CCA7-9F4A-CFDB-1F3D49255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 descr="Download A dark and mysterious room, with a door leading somewhere unknown  | Wallpapers.com">
            <a:extLst>
              <a:ext uri="{FF2B5EF4-FFF2-40B4-BE49-F238E27FC236}">
                <a16:creationId xmlns:a16="http://schemas.microsoft.com/office/drawing/2014/main" id="{68011C87-4C2A-C24E-2B7C-CE7A68B9DB7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softEdge rad="1270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B6C9CDB-4A32-7666-F9DF-12188D335422}"/>
              </a:ext>
            </a:extLst>
          </p:cNvPr>
          <p:cNvCxnSpPr>
            <a:cxnSpLocks/>
          </p:cNvCxnSpPr>
          <p:nvPr/>
        </p:nvCxnSpPr>
        <p:spPr>
          <a:xfrm>
            <a:off x="-6338455" y="3429000"/>
            <a:ext cx="1243445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09311EA-886A-8568-CBCB-E1543A6A2943}"/>
              </a:ext>
            </a:extLst>
          </p:cNvPr>
          <p:cNvSpPr txBox="1"/>
          <p:nvPr/>
        </p:nvSpPr>
        <p:spPr>
          <a:xfrm>
            <a:off x="2166504" y="4227024"/>
            <a:ext cx="78589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To apply c programming concepts in a real world application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90C969-CC63-80C5-A870-2850E80E0CF9}"/>
              </a:ext>
            </a:extLst>
          </p:cNvPr>
          <p:cNvSpPr/>
          <p:nvPr/>
        </p:nvSpPr>
        <p:spPr>
          <a:xfrm>
            <a:off x="5824101" y="3185128"/>
            <a:ext cx="486643" cy="48773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31E5A9-CE8C-7FB5-CFBF-F1D3578FC512}"/>
              </a:ext>
            </a:extLst>
          </p:cNvPr>
          <p:cNvSpPr txBox="1"/>
          <p:nvPr/>
        </p:nvSpPr>
        <p:spPr>
          <a:xfrm>
            <a:off x="5824100" y="2201341"/>
            <a:ext cx="23639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  <a:latin typeface="Felix Titling" panose="04060505060202020A04" pitchFamily="82" charset="0"/>
              </a:rPr>
              <a:t>5.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86ED7-7640-6403-493D-60C69AB1C491}"/>
              </a:ext>
            </a:extLst>
          </p:cNvPr>
          <p:cNvSpPr txBox="1">
            <a:spLocks/>
          </p:cNvSpPr>
          <p:nvPr/>
        </p:nvSpPr>
        <p:spPr>
          <a:xfrm>
            <a:off x="4612684" y="961545"/>
            <a:ext cx="69517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OBJECTIVES:</a:t>
            </a:r>
          </a:p>
        </p:txBody>
      </p:sp>
    </p:spTree>
    <p:extLst>
      <p:ext uri="{BB962C8B-B14F-4D97-AF65-F5344CB8AC3E}">
        <p14:creationId xmlns:p14="http://schemas.microsoft.com/office/powerpoint/2010/main" val="3840621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57CB9-AF82-43D3-3829-8B583F43C4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93F3B3-8361-A832-965E-49805D5F0F3B}"/>
              </a:ext>
            </a:extLst>
          </p:cNvPr>
          <p:cNvSpPr txBox="1"/>
          <p:nvPr/>
        </p:nvSpPr>
        <p:spPr>
          <a:xfrm>
            <a:off x="2357377" y="173620"/>
            <a:ext cx="747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Felix Titling" panose="04060505060202020A04" pitchFamily="82" charset="0"/>
              </a:rPr>
              <a:t>RELEVANT C LANGUAGE CONCEPTS USED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8F7CB-BB3A-E883-D823-357A6417865E}"/>
              </a:ext>
            </a:extLst>
          </p:cNvPr>
          <p:cNvSpPr txBox="1"/>
          <p:nvPr/>
        </p:nvSpPr>
        <p:spPr>
          <a:xfrm>
            <a:off x="266210" y="1030147"/>
            <a:ext cx="3703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AND DATA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59D20-1675-159F-C54C-D437FC657FC6}"/>
              </a:ext>
            </a:extLst>
          </p:cNvPr>
          <p:cNvSpPr txBox="1"/>
          <p:nvPr/>
        </p:nvSpPr>
        <p:spPr>
          <a:xfrm>
            <a:off x="499636" y="1399479"/>
            <a:ext cx="3703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store account number, balance, PIN, and other details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38DAD2-91A4-B175-E09E-94532E92DC1F}"/>
              </a:ext>
            </a:extLst>
          </p:cNvPr>
          <p:cNvSpPr txBox="1"/>
          <p:nvPr/>
        </p:nvSpPr>
        <p:spPr>
          <a:xfrm>
            <a:off x="4745615" y="1030147"/>
            <a:ext cx="2720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ARRAYS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C5061-7722-6992-359B-98EA167BBB97}"/>
              </a:ext>
            </a:extLst>
          </p:cNvPr>
          <p:cNvSpPr txBox="1"/>
          <p:nvPr/>
        </p:nvSpPr>
        <p:spPr>
          <a:xfrm>
            <a:off x="4852683" y="1399478"/>
            <a:ext cx="35968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manage multiple customer accounts in the system.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D1F2C-D639-7E09-E2E7-274620530BB8}"/>
              </a:ext>
            </a:extLst>
          </p:cNvPr>
          <p:cNvSpPr txBox="1"/>
          <p:nvPr/>
        </p:nvSpPr>
        <p:spPr>
          <a:xfrm>
            <a:off x="8613491" y="1030147"/>
            <a:ext cx="243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STRUCTURES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ADFF93-92C2-3D1D-8732-52BFDA0A071A}"/>
              </a:ext>
            </a:extLst>
          </p:cNvPr>
          <p:cNvSpPr txBox="1"/>
          <p:nvPr/>
        </p:nvSpPr>
        <p:spPr>
          <a:xfrm>
            <a:off x="8727307" y="1374344"/>
            <a:ext cx="34646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group customer information like name, account number, balance, and PIN into a single record.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C452C-CBEE-EDD3-6F94-A398B94AB4DB}"/>
              </a:ext>
            </a:extLst>
          </p:cNvPr>
          <p:cNvSpPr txBox="1"/>
          <p:nvPr/>
        </p:nvSpPr>
        <p:spPr>
          <a:xfrm>
            <a:off x="266210" y="3750197"/>
            <a:ext cx="2963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2A1BAF-0F92-7618-806E-649ED8451C9A}"/>
              </a:ext>
            </a:extLst>
          </p:cNvPr>
          <p:cNvSpPr txBox="1"/>
          <p:nvPr/>
        </p:nvSpPr>
        <p:spPr>
          <a:xfrm>
            <a:off x="499636" y="4119529"/>
            <a:ext cx="34704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perform specific tasks such as deposit, withdraw, transfer money, change PIN, etc.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F26F2A-3206-AE1A-A18A-D7D1D2E9A37E}"/>
              </a:ext>
            </a:extLst>
          </p:cNvPr>
          <p:cNvSpPr txBox="1"/>
          <p:nvPr/>
        </p:nvSpPr>
        <p:spPr>
          <a:xfrm>
            <a:off x="4745615" y="3750197"/>
            <a:ext cx="348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CONDITIONAL STATEMENTS(if-else/switch)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3EFA0B-315D-8BC1-A041-043CA5FB026E}"/>
              </a:ext>
            </a:extLst>
          </p:cNvPr>
          <p:cNvSpPr txBox="1"/>
          <p:nvPr/>
        </p:nvSpPr>
        <p:spPr>
          <a:xfrm>
            <a:off x="4994472" y="4396528"/>
            <a:ext cx="34550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verify login credentials and control menu options.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66FACF-FF39-7676-81EA-4A9907F006A6}"/>
              </a:ext>
            </a:extLst>
          </p:cNvPr>
          <p:cNvSpPr txBox="1"/>
          <p:nvPr/>
        </p:nvSpPr>
        <p:spPr>
          <a:xfrm>
            <a:off x="8613491" y="3704030"/>
            <a:ext cx="2407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  <a:latin typeface="Bahnschrift" panose="020B0502040204020203" pitchFamily="34" charset="0"/>
              </a:rPr>
              <a:t>LOOPS(for/while)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CDA2B9-E0F0-C0DA-3AF0-6FF3DCDF0603}"/>
              </a:ext>
            </a:extLst>
          </p:cNvPr>
          <p:cNvSpPr txBox="1"/>
          <p:nvPr/>
        </p:nvSpPr>
        <p:spPr>
          <a:xfrm>
            <a:off x="8866205" y="4119529"/>
            <a:ext cx="31868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Used to repeatedly display menu options until the user exits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094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43C480-9E96-FF83-5A83-7141C3A6DA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646AA-C483-1284-9633-1A8E129A057C}"/>
              </a:ext>
            </a:extLst>
          </p:cNvPr>
          <p:cNvSpPr txBox="1"/>
          <p:nvPr/>
        </p:nvSpPr>
        <p:spPr>
          <a:xfrm>
            <a:off x="3676891" y="254643"/>
            <a:ext cx="48382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Felix Titling" panose="04060505060202020A04" pitchFamily="82" charset="0"/>
              </a:rPr>
              <a:t>System working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469B67-704A-B165-836D-628C128336A4}"/>
              </a:ext>
            </a:extLst>
          </p:cNvPr>
          <p:cNvSpPr txBox="1"/>
          <p:nvPr/>
        </p:nvSpPr>
        <p:spPr>
          <a:xfrm>
            <a:off x="1824941" y="1094061"/>
            <a:ext cx="854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The Smart Bank Management System works through a menu-driven interface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1EF40B-6823-DE89-0EEA-EA9B30507C1A}"/>
              </a:ext>
            </a:extLst>
          </p:cNvPr>
          <p:cNvSpPr txBox="1"/>
          <p:nvPr/>
        </p:nvSpPr>
        <p:spPr>
          <a:xfrm>
            <a:off x="580662" y="1718036"/>
            <a:ext cx="248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MAIN MENU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0E2DC-8C62-2C27-91FE-F757FE016E5E}"/>
              </a:ext>
            </a:extLst>
          </p:cNvPr>
          <p:cNvSpPr txBox="1"/>
          <p:nvPr/>
        </p:nvSpPr>
        <p:spPr>
          <a:xfrm>
            <a:off x="243066" y="2179700"/>
            <a:ext cx="29978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Admi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Customer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Help &amp; </a:t>
            </a:r>
            <a:r>
              <a:rPr lang="en-IN" dirty="0" err="1">
                <a:solidFill>
                  <a:schemeClr val="bg1"/>
                </a:solidFill>
                <a:latin typeface="Century" panose="02040604050505020304" pitchFamily="18" charset="0"/>
              </a:rPr>
              <a:t>Suppport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Exit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1467B12-FEF2-8A09-1772-C122F7D1D9A7}"/>
              </a:ext>
            </a:extLst>
          </p:cNvPr>
          <p:cNvSpPr/>
          <p:nvPr/>
        </p:nvSpPr>
        <p:spPr>
          <a:xfrm>
            <a:off x="2384380" y="2245951"/>
            <a:ext cx="1203768" cy="671332"/>
          </a:xfrm>
          <a:prstGeom prst="rightArrow">
            <a:avLst/>
          </a:prstGeom>
          <a:gradFill>
            <a:gsLst>
              <a:gs pos="0">
                <a:srgbClr val="FF0000"/>
              </a:gs>
              <a:gs pos="87000">
                <a:schemeClr val="bg2">
                  <a:lumMod val="10000"/>
                  <a:alpha val="43000"/>
                </a:schemeClr>
              </a:gs>
            </a:gsLst>
            <a:lin ang="9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B3CE9F-3B26-E24A-95C0-A893B7DBE490}"/>
              </a:ext>
            </a:extLst>
          </p:cNvPr>
          <p:cNvSpPr txBox="1"/>
          <p:nvPr/>
        </p:nvSpPr>
        <p:spPr>
          <a:xfrm>
            <a:off x="3821572" y="1784286"/>
            <a:ext cx="24885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ADMIN PANEL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2907BF-F207-94E1-7380-A1F359412A4C}"/>
              </a:ext>
            </a:extLst>
          </p:cNvPr>
          <p:cNvSpPr txBox="1"/>
          <p:nvPr/>
        </p:nvSpPr>
        <p:spPr>
          <a:xfrm>
            <a:off x="3566928" y="2179700"/>
            <a:ext cx="2743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Manages overall system control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4036895-85E8-7189-7B91-D2C2128D06ED}"/>
              </a:ext>
            </a:extLst>
          </p:cNvPr>
          <p:cNvSpPr/>
          <p:nvPr/>
        </p:nvSpPr>
        <p:spPr>
          <a:xfrm rot="5400000">
            <a:off x="804438" y="3435366"/>
            <a:ext cx="1203768" cy="671332"/>
          </a:xfrm>
          <a:prstGeom prst="rightArrow">
            <a:avLst/>
          </a:prstGeom>
          <a:gradFill>
            <a:gsLst>
              <a:gs pos="0">
                <a:srgbClr val="FF0000"/>
              </a:gs>
              <a:gs pos="87000">
                <a:schemeClr val="bg2">
                  <a:lumMod val="10000"/>
                  <a:alpha val="43000"/>
                </a:schemeClr>
              </a:gs>
            </a:gsLst>
            <a:lin ang="9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6D04A6-7032-DA5C-169B-8FEDD04266B1}"/>
              </a:ext>
            </a:extLst>
          </p:cNvPr>
          <p:cNvSpPr txBox="1"/>
          <p:nvPr/>
        </p:nvSpPr>
        <p:spPr>
          <a:xfrm>
            <a:off x="580662" y="4359401"/>
            <a:ext cx="2986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CUSTROMER PANEL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50FD0-7B99-DB29-2C64-BBD6C50D2B71}"/>
              </a:ext>
            </a:extLst>
          </p:cNvPr>
          <p:cNvSpPr txBox="1"/>
          <p:nvPr/>
        </p:nvSpPr>
        <p:spPr>
          <a:xfrm>
            <a:off x="243065" y="4821066"/>
            <a:ext cx="34338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Deposit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Withdraw money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Transfer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Change PIN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Block account in emergency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79C3BD7A-E6A7-8660-E0CA-389EDE59A46B}"/>
              </a:ext>
            </a:extLst>
          </p:cNvPr>
          <p:cNvSpPr/>
          <p:nvPr/>
        </p:nvSpPr>
        <p:spPr>
          <a:xfrm rot="1552042">
            <a:off x="2281128" y="3377783"/>
            <a:ext cx="2426560" cy="671332"/>
          </a:xfrm>
          <a:prstGeom prst="rightArrow">
            <a:avLst/>
          </a:prstGeom>
          <a:gradFill>
            <a:gsLst>
              <a:gs pos="0">
                <a:srgbClr val="FF0000"/>
              </a:gs>
              <a:gs pos="87000">
                <a:schemeClr val="bg2">
                  <a:lumMod val="10000"/>
                  <a:alpha val="43000"/>
                </a:schemeClr>
              </a:gs>
            </a:gsLst>
            <a:lin ang="90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64D5C-C9BE-01CD-D1B1-2FD2721A6764}"/>
              </a:ext>
            </a:extLst>
          </p:cNvPr>
          <p:cNvSpPr txBox="1"/>
          <p:nvPr/>
        </p:nvSpPr>
        <p:spPr>
          <a:xfrm>
            <a:off x="4672304" y="4031103"/>
            <a:ext cx="2874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HELP &amp; SUPPORT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0EBC73-B9EE-3C82-2A49-91D0FF0CAEED}"/>
              </a:ext>
            </a:extLst>
          </p:cNvPr>
          <p:cNvSpPr txBox="1"/>
          <p:nvPr/>
        </p:nvSpPr>
        <p:spPr>
          <a:xfrm>
            <a:off x="4257552" y="4492768"/>
            <a:ext cx="375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entury" panose="02040604050505020304" pitchFamily="18" charset="0"/>
              </a:rPr>
              <a:t>Users can submit complaints or queries which are stored in the system for reference</a:t>
            </a:r>
            <a:r>
              <a:rPr lang="en-US" dirty="0"/>
              <a:t>.</a:t>
            </a: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73650E-E6BF-FE5A-763E-FB32B93D9374}"/>
              </a:ext>
            </a:extLst>
          </p:cNvPr>
          <p:cNvSpPr/>
          <p:nvPr/>
        </p:nvSpPr>
        <p:spPr>
          <a:xfrm>
            <a:off x="5876996" y="1684842"/>
            <a:ext cx="1218230" cy="1846967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738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AC8D35-6693-2307-CD94-C29DD8AD58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C080B3-572C-D2CB-D349-8E4D2B2624E1}"/>
              </a:ext>
            </a:extLst>
          </p:cNvPr>
          <p:cNvSpPr txBox="1"/>
          <p:nvPr/>
        </p:nvSpPr>
        <p:spPr>
          <a:xfrm>
            <a:off x="4583574" y="89577"/>
            <a:ext cx="35997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Felix Titling" panose="04060505060202020A04" pitchFamily="82" charset="0"/>
              </a:rPr>
              <a:t>ALGORITHMS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AFCC13-7452-6A69-3E77-78DCF7A2718C}"/>
              </a:ext>
            </a:extLst>
          </p:cNvPr>
          <p:cNvSpPr txBox="1"/>
          <p:nvPr/>
        </p:nvSpPr>
        <p:spPr>
          <a:xfrm>
            <a:off x="636956" y="895525"/>
            <a:ext cx="40144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Felix Titling" panose="04060505060202020A04" pitchFamily="82" charset="0"/>
              </a:rPr>
              <a:t>MAIN</a:t>
            </a:r>
            <a:r>
              <a:rPr lang="en-IN" sz="2800" b="1" dirty="0">
                <a:solidFill>
                  <a:schemeClr val="bg1"/>
                </a:solidFill>
                <a:latin typeface="Felix Titling" panose="04060505060202020A04" pitchFamily="82" charset="0"/>
              </a:rPr>
              <a:t> ALGORITHM: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29C61-BA54-7BBB-4B5B-D92CA37E6C6B}"/>
              </a:ext>
            </a:extLst>
          </p:cNvPr>
          <p:cNvSpPr txBox="1"/>
          <p:nvPr/>
        </p:nvSpPr>
        <p:spPr>
          <a:xfrm>
            <a:off x="807396" y="1418745"/>
            <a:ext cx="642532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Start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Display Menu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Read user choice</a:t>
            </a:r>
          </a:p>
          <a:p>
            <a:pPr marL="800100" lvl="1" indent="-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Admin login</a:t>
            </a:r>
          </a:p>
          <a:p>
            <a:pPr marL="800100" lvl="1" indent="-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Customer login</a:t>
            </a:r>
          </a:p>
          <a:p>
            <a:pPr marL="800100" lvl="1" indent="-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Help &amp; Support</a:t>
            </a:r>
          </a:p>
          <a:p>
            <a:pPr marL="800100" lvl="1" indent="-252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Exit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choice = Admin </a:t>
            </a: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  <a:sym typeface="Wingdings" panose="05000000000000000000" pitchFamily="2" charset="2"/>
              </a:rPr>
              <a:t></a:t>
            </a: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 Redirect to Admin block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choice = Customer </a:t>
            </a: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  <a:sym typeface="Wingdings" panose="05000000000000000000" pitchFamily="2" charset="2"/>
              </a:rPr>
              <a:t> Redirect to Customer block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  <a:sym typeface="Wingdings" panose="05000000000000000000" pitchFamily="2" charset="2"/>
              </a:rPr>
              <a:t>If choice = Help Redirect to Help &amp; Support block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  <a:sym typeface="Wingdings" panose="05000000000000000000" pitchFamily="2" charset="2"/>
              </a:rPr>
              <a:t>If choice = Exit  Terminate the program</a:t>
            </a:r>
          </a:p>
          <a:p>
            <a:pPr marL="342900" indent="-252000">
              <a:spcAft>
                <a:spcPts val="600"/>
              </a:spcAft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  <a:sym typeface="Wingdings" panose="05000000000000000000" pitchFamily="2" charset="2"/>
              </a:rPr>
              <a:t>End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F4A73C-C62D-26A7-6907-F3485492C9BE}"/>
              </a:ext>
            </a:extLst>
          </p:cNvPr>
          <p:cNvSpPr txBox="1"/>
          <p:nvPr/>
        </p:nvSpPr>
        <p:spPr>
          <a:xfrm>
            <a:off x="807396" y="3550596"/>
            <a:ext cx="283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775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6EF9B2-C1C9-723E-9985-E31F8E279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3FB4A7-A59A-D6DE-E78E-076C380017B5}"/>
              </a:ext>
            </a:extLst>
          </p:cNvPr>
          <p:cNvSpPr txBox="1"/>
          <p:nvPr/>
        </p:nvSpPr>
        <p:spPr>
          <a:xfrm>
            <a:off x="583661" y="46166"/>
            <a:ext cx="43774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Felix Titling" panose="04060505060202020A04" pitchFamily="82" charset="0"/>
              </a:rPr>
              <a:t>ADMIN BLOCK </a:t>
            </a:r>
            <a:r>
              <a:rPr lang="en-IN" sz="3200" b="1" dirty="0">
                <a:solidFill>
                  <a:schemeClr val="bg1"/>
                </a:solidFill>
                <a:latin typeface="Felix Titling" panose="04060505060202020A04" pitchFamily="82" charset="0"/>
              </a:rPr>
              <a:t>ALGORITHM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92B56-453E-D05D-2191-ED2B46FAFE74}"/>
              </a:ext>
            </a:extLst>
          </p:cNvPr>
          <p:cNvSpPr txBox="1"/>
          <p:nvPr/>
        </p:nvSpPr>
        <p:spPr>
          <a:xfrm>
            <a:off x="7094707" y="46166"/>
            <a:ext cx="41699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0000"/>
                </a:solidFill>
                <a:latin typeface="Felix Titling" panose="04060505060202020A04" pitchFamily="82" charset="0"/>
              </a:rPr>
              <a:t>CUSTOMER BLOCK </a:t>
            </a:r>
            <a:r>
              <a:rPr lang="en-IN" sz="3200" b="1" dirty="0">
                <a:solidFill>
                  <a:schemeClr val="bg1"/>
                </a:solidFill>
                <a:latin typeface="Felix Titling" panose="04060505060202020A04" pitchFamily="82" charset="0"/>
              </a:rPr>
              <a:t>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D5916-B28A-67F7-62D3-DC6AA80C25DB}"/>
              </a:ext>
            </a:extLst>
          </p:cNvPr>
          <p:cNvSpPr txBox="1"/>
          <p:nvPr/>
        </p:nvSpPr>
        <p:spPr>
          <a:xfrm>
            <a:off x="768483" y="1546698"/>
            <a:ext cx="501947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Enter Admin ID &amp; password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credentials are correct: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Display Amin Menu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Create Account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View All accounts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View All Complaints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Create Account is selected: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Enter Customer details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Store data in array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View Accounts selected: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Display all stored accounts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View All Complaints is selected: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Display all stored complaints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Return to Main Menu</a:t>
            </a:r>
          </a:p>
          <a:p>
            <a:endParaRPr lang="en-IN" sz="2000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5F380B-E18F-D538-207B-EB92957FF072}"/>
              </a:ext>
            </a:extLst>
          </p:cNvPr>
          <p:cNvSpPr txBox="1"/>
          <p:nvPr/>
        </p:nvSpPr>
        <p:spPr>
          <a:xfrm>
            <a:off x="7172527" y="1546698"/>
            <a:ext cx="501947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Enter Account No. and PIN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If credentials are correct: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Perform selected operations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Update account details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Repeat until user exits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000" dirty="0">
                <a:solidFill>
                  <a:schemeClr val="bg1"/>
                </a:solidFill>
                <a:latin typeface="Century" panose="02040604050505020304" pitchFamily="18" charset="0"/>
              </a:rPr>
              <a:t>Return to Main Menu</a:t>
            </a:r>
          </a:p>
          <a:p>
            <a:endParaRPr lang="en-IN" sz="2000" dirty="0">
              <a:solidFill>
                <a:schemeClr val="bg1"/>
              </a:solidFill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563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7CA18B-626A-2036-661A-8D2A6CADAE1E}"/>
              </a:ext>
            </a:extLst>
          </p:cNvPr>
          <p:cNvSpPr/>
          <p:nvPr/>
        </p:nvSpPr>
        <p:spPr>
          <a:xfrm>
            <a:off x="-1" y="0"/>
            <a:ext cx="12280740" cy="685800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4B2511-3070-4612-D824-D34BDA89D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271" y="619997"/>
            <a:ext cx="9357457" cy="6342175"/>
          </a:xfrm>
          <a:prstGeom prst="rect">
            <a:avLst/>
          </a:prstGeom>
          <a:effectLst>
            <a:softEdge rad="1524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E1E7-D42D-9B58-90F4-1981D181CE47}"/>
              </a:ext>
            </a:extLst>
          </p:cNvPr>
          <p:cNvSpPr txBox="1"/>
          <p:nvPr/>
        </p:nvSpPr>
        <p:spPr>
          <a:xfrm>
            <a:off x="4658183" y="0"/>
            <a:ext cx="349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Felix Titling" panose="04060505060202020A04" pitchFamily="82" charset="0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851783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01A79-570C-B498-DD95-2C18C088B14D}"/>
              </a:ext>
            </a:extLst>
          </p:cNvPr>
          <p:cNvSpPr>
            <a:spLocks/>
          </p:cNvSpPr>
          <p:nvPr/>
        </p:nvSpPr>
        <p:spPr>
          <a:xfrm>
            <a:off x="-1" y="-2"/>
            <a:ext cx="12192001" cy="685800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78C23-0516-33D7-2A92-FEFEC36D71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752125" y="232419"/>
            <a:ext cx="46877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Felix Titling" panose="04060505060202020A04" pitchFamily="82" charset="0"/>
              </a:rPr>
              <a:t>SAMPLE OUTPUTS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2EAF0-F4E1-9E99-61C0-2B15E227A17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01" y="1775332"/>
            <a:ext cx="2349821" cy="20331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BD24A99-6590-C0D4-EA8F-E169AFA8266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87" y="4764588"/>
            <a:ext cx="3094381" cy="10764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65D647D-D206-2407-133B-3B088FFC2470}"/>
              </a:ext>
            </a:extLst>
          </p:cNvPr>
          <p:cNvSpPr txBox="1">
            <a:spLocks/>
          </p:cNvSpPr>
          <p:nvPr/>
        </p:nvSpPr>
        <p:spPr>
          <a:xfrm>
            <a:off x="376096" y="1129001"/>
            <a:ext cx="27084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CREATING CUSTOMER’S ACC.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4AD60-EB5F-D756-4A2F-B0E730D27332}"/>
              </a:ext>
            </a:extLst>
          </p:cNvPr>
          <p:cNvSpPr txBox="1">
            <a:spLocks/>
          </p:cNvSpPr>
          <p:nvPr/>
        </p:nvSpPr>
        <p:spPr>
          <a:xfrm>
            <a:off x="376096" y="4454797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AMDIN’S VIEW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AD01CA-30C7-638B-1347-93AA32480B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71" y="1603473"/>
            <a:ext cx="3985440" cy="9335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7E67922-FD9D-3E1A-1A97-E01F229885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668" y="3420268"/>
            <a:ext cx="4803656" cy="8954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A7276A-A60F-2EB6-F5E0-66F6588151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671" y="5227679"/>
            <a:ext cx="4917201" cy="7144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63F5A0-BC52-702D-89B5-B4C1CB274F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872" y="1555602"/>
            <a:ext cx="3552031" cy="111458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CA87899-1FBD-678E-B1C5-A439B5E596E0}"/>
              </a:ext>
            </a:extLst>
          </p:cNvPr>
          <p:cNvSpPr txBox="1">
            <a:spLocks/>
          </p:cNvSpPr>
          <p:nvPr/>
        </p:nvSpPr>
        <p:spPr>
          <a:xfrm>
            <a:off x="3460668" y="1273083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MONEY DEPOSIT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3F4682-B62D-62DD-FB2E-16F16509D444}"/>
              </a:ext>
            </a:extLst>
          </p:cNvPr>
          <p:cNvSpPr txBox="1">
            <a:spLocks/>
          </p:cNvSpPr>
          <p:nvPr/>
        </p:nvSpPr>
        <p:spPr>
          <a:xfrm>
            <a:off x="3424466" y="2915500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CHANGE PIN.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6966B-3232-ACF4-3E40-ADB43DE3DFD5}"/>
              </a:ext>
            </a:extLst>
          </p:cNvPr>
          <p:cNvSpPr txBox="1">
            <a:spLocks/>
          </p:cNvSpPr>
          <p:nvPr/>
        </p:nvSpPr>
        <p:spPr>
          <a:xfrm>
            <a:off x="3367169" y="4772156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BLOCK ACCOUNT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067152-014A-4EAD-4C81-C118708A4C47}"/>
              </a:ext>
            </a:extLst>
          </p:cNvPr>
          <p:cNvSpPr txBox="1">
            <a:spLocks/>
          </p:cNvSpPr>
          <p:nvPr/>
        </p:nvSpPr>
        <p:spPr>
          <a:xfrm>
            <a:off x="8439872" y="1234141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COMPLAINTS.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9B7DC29-9ED7-2F72-EB62-707B246DA8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146" y="3282817"/>
            <a:ext cx="3552031" cy="90500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8DBAF0E-67BA-145F-9932-2249B2EF8A6A}"/>
              </a:ext>
            </a:extLst>
          </p:cNvPr>
          <p:cNvSpPr txBox="1">
            <a:spLocks/>
          </p:cNvSpPr>
          <p:nvPr/>
        </p:nvSpPr>
        <p:spPr>
          <a:xfrm>
            <a:off x="8429408" y="2915500"/>
            <a:ext cx="2708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ADMIN VIEW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575F1AF-1896-6164-EEF4-2ECDCE0692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920" y="5168359"/>
            <a:ext cx="3552031" cy="159559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BBCDC2D-FE07-6922-EF7A-A89941D0554F}"/>
              </a:ext>
            </a:extLst>
          </p:cNvPr>
          <p:cNvSpPr txBox="1">
            <a:spLocks/>
          </p:cNvSpPr>
          <p:nvPr/>
        </p:nvSpPr>
        <p:spPr>
          <a:xfrm>
            <a:off x="8429408" y="4809737"/>
            <a:ext cx="3386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Century" panose="02040604050505020304" pitchFamily="18" charset="0"/>
              </a:rPr>
              <a:t>WIITHDRAW EXAMPLE</a:t>
            </a:r>
          </a:p>
        </p:txBody>
      </p:sp>
    </p:spTree>
    <p:extLst>
      <p:ext uri="{BB962C8B-B14F-4D97-AF65-F5344CB8AC3E}">
        <p14:creationId xmlns:p14="http://schemas.microsoft.com/office/powerpoint/2010/main" val="303486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3434FA-4DAC-5A12-4C2C-CB50475FA9C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59380-C61D-A72F-2371-EC87383E228D}"/>
              </a:ext>
            </a:extLst>
          </p:cNvPr>
          <p:cNvSpPr txBox="1"/>
          <p:nvPr/>
        </p:nvSpPr>
        <p:spPr>
          <a:xfrm>
            <a:off x="2890736" y="243191"/>
            <a:ext cx="641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Felix Titling" panose="04060505060202020A04" pitchFamily="82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5C1F2-FE78-A0D6-9908-2FED1435122C}"/>
              </a:ext>
            </a:extLst>
          </p:cNvPr>
          <p:cNvSpPr txBox="1"/>
          <p:nvPr/>
        </p:nvSpPr>
        <p:spPr>
          <a:xfrm>
            <a:off x="671208" y="1132713"/>
            <a:ext cx="11050621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</a:rPr>
              <a:t>The Smart Bank Management System is a console-based application developed using C programming to simulate basic real-world banking operations in a structured and efficient way.</a:t>
            </a:r>
          </a:p>
          <a:p>
            <a:pPr indent="-457200"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pPr indent="-45720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</a:rPr>
              <a:t>In this project, we implemented important features such as secure admin and customer login, account creation, deposit and withdrawal, fund transfer, PIN change, emergency account blocking, and a complaint system.</a:t>
            </a:r>
          </a:p>
          <a:p>
            <a:pPr indent="-457200"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pPr indent="-45720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</a:rPr>
              <a:t>The system demonstrates how customer data and transactions can be managed using core C concepts like arrays, structures, functions, loops, and conditional statements.</a:t>
            </a:r>
          </a:p>
          <a:p>
            <a:pPr indent="-457200"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  <a:latin typeface="Century" panose="02040604050505020304" pitchFamily="18" charset="0"/>
            </a:endParaRPr>
          </a:p>
          <a:p>
            <a:pPr indent="-457200"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  <a:latin typeface="Century" panose="02040604050505020304" pitchFamily="18" charset="0"/>
              </a:rPr>
              <a:t>This project improved our understanding of modular programming, logical flow control, and secure system design. Although it runs on a console interface, it reflects the fundamental working principles of modern banking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1853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09722F-B738-8416-77A1-8210433C1F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81CA9D-43D9-68AB-0055-EBAE2E808C59}"/>
              </a:ext>
            </a:extLst>
          </p:cNvPr>
          <p:cNvSpPr txBox="1"/>
          <p:nvPr/>
        </p:nvSpPr>
        <p:spPr>
          <a:xfrm>
            <a:off x="2884025" y="2384385"/>
            <a:ext cx="64239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b="1" dirty="0">
                <a:solidFill>
                  <a:srgbClr val="FF0000"/>
                </a:solidFill>
                <a:latin typeface="Felix Titling" panose="04060505060202020A04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809263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1695</TotalTime>
  <Words>965</Words>
  <Application>Microsoft Office PowerPoint</Application>
  <PresentationFormat>Widescreen</PresentationFormat>
  <Paragraphs>178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Aptos Display</vt:lpstr>
      <vt:lpstr>Arial</vt:lpstr>
      <vt:lpstr>Bahnschrift</vt:lpstr>
      <vt:lpstr>Century</vt:lpstr>
      <vt:lpstr>Felix Titling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Krishna Rajput</dc:creator>
  <cp:lastModifiedBy>Krishna Rajput</cp:lastModifiedBy>
  <cp:revision>2</cp:revision>
  <dcterms:created xsi:type="dcterms:W3CDTF">2026-02-14T04:19:24Z</dcterms:created>
  <dcterms:modified xsi:type="dcterms:W3CDTF">2026-02-16T15:27:58Z</dcterms:modified>
</cp:coreProperties>
</file>