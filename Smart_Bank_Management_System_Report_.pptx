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830" y="-49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A395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A395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A395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A395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20000" y="1092748"/>
            <a:ext cx="6120130" cy="19050"/>
          </a:xfrm>
          <a:custGeom>
            <a:avLst/>
            <a:gdLst/>
            <a:ahLst/>
            <a:cxnLst/>
            <a:rect l="l" t="t" r="r" b="b"/>
            <a:pathLst>
              <a:path w="6120130" h="19050">
                <a:moveTo>
                  <a:pt x="6119999" y="19050"/>
                </a:moveTo>
                <a:lnTo>
                  <a:pt x="0" y="19050"/>
                </a:lnTo>
                <a:lnTo>
                  <a:pt x="0" y="0"/>
                </a:lnTo>
                <a:lnTo>
                  <a:pt x="6119999" y="0"/>
                </a:lnTo>
                <a:lnTo>
                  <a:pt x="6119999" y="19050"/>
                </a:lnTo>
                <a:close/>
              </a:path>
            </a:pathLst>
          </a:custGeom>
          <a:solidFill>
            <a:srgbClr val="1A39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88796" y="66546"/>
            <a:ext cx="5185256" cy="1163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A395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31077" y="2948768"/>
            <a:ext cx="3698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C3D50"/>
                </a:solidFill>
                <a:latin typeface="Times New Roman"/>
                <a:cs typeface="Times New Roman"/>
              </a:rPr>
              <a:t>Subject:</a:t>
            </a:r>
            <a:r>
              <a:rPr sz="1800" b="1" spc="-50" dirty="0">
                <a:solidFill>
                  <a:srgbClr val="2C3D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C3D50"/>
                </a:solidFill>
                <a:latin typeface="Times New Roman"/>
                <a:cs typeface="Times New Roman"/>
              </a:rPr>
              <a:t>Foundation</a:t>
            </a:r>
            <a:r>
              <a:rPr sz="1800" b="1" spc="-45" dirty="0">
                <a:solidFill>
                  <a:srgbClr val="2C3D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C3D50"/>
                </a:solidFill>
                <a:latin typeface="Times New Roman"/>
                <a:cs typeface="Times New Roman"/>
              </a:rPr>
              <a:t>of</a:t>
            </a:r>
            <a:r>
              <a:rPr sz="1800" b="1" spc="-35" dirty="0">
                <a:solidFill>
                  <a:srgbClr val="2C3D5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2C3D50"/>
                </a:solidFill>
                <a:latin typeface="Times New Roman"/>
                <a:cs typeface="Times New Roman"/>
              </a:rPr>
              <a:t>Programming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72507" y="4460461"/>
            <a:ext cx="1815464" cy="1367041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60"/>
              </a:spcBef>
            </a:pPr>
            <a:r>
              <a:rPr sz="1400" b="1" dirty="0">
                <a:solidFill>
                  <a:srgbClr val="333333"/>
                </a:solidFill>
                <a:latin typeface="Times New Roman"/>
                <a:cs typeface="Times New Roman"/>
              </a:rPr>
              <a:t>Submitted</a:t>
            </a:r>
            <a:r>
              <a:rPr sz="1400" b="1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333333"/>
                </a:solidFill>
                <a:latin typeface="Times New Roman"/>
                <a:cs typeface="Times New Roman"/>
              </a:rPr>
              <a:t>by:</a:t>
            </a:r>
            <a:endParaRPr sz="14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60"/>
              </a:spcBef>
            </a:pPr>
            <a:r>
              <a:rPr lang="en-US" sz="1400" dirty="0" err="1" smtClean="0">
                <a:solidFill>
                  <a:srgbClr val="333333"/>
                </a:solidFill>
                <a:latin typeface="Times New Roman"/>
                <a:cs typeface="Times New Roman"/>
              </a:rPr>
              <a:t>Rajveer</a:t>
            </a:r>
            <a:r>
              <a:rPr lang="en-US" sz="1400" dirty="0" smtClean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lang="en-US" sz="1400" dirty="0" err="1" smtClean="0">
                <a:solidFill>
                  <a:srgbClr val="333333"/>
                </a:solidFill>
                <a:latin typeface="Times New Roman"/>
                <a:cs typeface="Times New Roman"/>
              </a:rPr>
              <a:t>wagh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400" b="1" dirty="0">
                <a:solidFill>
                  <a:srgbClr val="333333"/>
                </a:solidFill>
                <a:latin typeface="Times New Roman"/>
                <a:cs typeface="Times New Roman"/>
              </a:rPr>
              <a:t>Under</a:t>
            </a:r>
            <a:r>
              <a:rPr sz="1400" b="1" spc="-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400" b="1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33333"/>
                </a:solidFill>
                <a:latin typeface="Times New Roman"/>
                <a:cs typeface="Times New Roman"/>
              </a:rPr>
              <a:t>Guidance</a:t>
            </a:r>
            <a:r>
              <a:rPr sz="1400" b="1" spc="-25" dirty="0">
                <a:solidFill>
                  <a:srgbClr val="333333"/>
                </a:solidFill>
                <a:latin typeface="Times New Roman"/>
                <a:cs typeface="Times New Roman"/>
              </a:rPr>
              <a:t> of:</a:t>
            </a:r>
            <a:endParaRPr sz="14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60"/>
              </a:spcBef>
            </a:pPr>
            <a:r>
              <a:rPr sz="1400" dirty="0">
                <a:solidFill>
                  <a:srgbClr val="333333"/>
                </a:solidFill>
                <a:latin typeface="Times New Roman"/>
                <a:cs typeface="Times New Roman"/>
              </a:rPr>
              <a:t>Prof.</a:t>
            </a:r>
            <a:r>
              <a:rPr sz="140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333333"/>
                </a:solidFill>
                <a:latin typeface="Times New Roman"/>
                <a:cs typeface="Times New Roman"/>
              </a:rPr>
              <a:t>Nikhil</a:t>
            </a:r>
            <a:r>
              <a:rPr sz="1400" spc="-10" dirty="0">
                <a:solidFill>
                  <a:srgbClr val="333333"/>
                </a:solidFill>
                <a:latin typeface="Times New Roman"/>
                <a:cs typeface="Times New Roman"/>
              </a:rPr>
              <a:t> Soniminde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71771" y="7382730"/>
            <a:ext cx="2217420" cy="594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030" marR="5080" indent="-354965">
              <a:lnSpc>
                <a:spcPct val="1333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MIT</a:t>
            </a:r>
            <a:r>
              <a:rPr sz="1400" b="1" spc="-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World</a:t>
            </a:r>
            <a:r>
              <a:rPr sz="1400" b="1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33333"/>
                </a:solidFill>
                <a:latin typeface="Times New Roman"/>
                <a:cs typeface="Times New Roman"/>
              </a:rPr>
              <a:t>Peace</a:t>
            </a:r>
            <a:r>
              <a:rPr sz="1400" b="1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University </a:t>
            </a:r>
            <a:r>
              <a:rPr sz="1400" b="1" dirty="0">
                <a:solidFill>
                  <a:srgbClr val="333333"/>
                </a:solidFill>
                <a:latin typeface="Times New Roman"/>
                <a:cs typeface="Times New Roman"/>
              </a:rPr>
              <a:t>Pune,</a:t>
            </a:r>
            <a:r>
              <a:rPr sz="1400" b="1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Maharashtra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9914" marR="5080" indent="-1847850">
              <a:lnSpc>
                <a:spcPct val="133300"/>
              </a:lnSpc>
              <a:spcBef>
                <a:spcPts val="100"/>
              </a:spcBef>
            </a:pPr>
            <a:r>
              <a:rPr spc="-10" dirty="0"/>
              <a:t>SMART</a:t>
            </a:r>
            <a:r>
              <a:rPr spc="-130" dirty="0"/>
              <a:t> </a:t>
            </a:r>
            <a:r>
              <a:rPr dirty="0"/>
              <a:t>BANK</a:t>
            </a:r>
            <a:r>
              <a:rPr spc="-80" dirty="0"/>
              <a:t> </a:t>
            </a:r>
            <a:r>
              <a:rPr spc="-10" dirty="0"/>
              <a:t>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9999" y="1378498"/>
            <a:ext cx="6120130" cy="19050"/>
          </a:xfrm>
          <a:custGeom>
            <a:avLst/>
            <a:gdLst/>
            <a:ahLst/>
            <a:cxnLst/>
            <a:rect l="l" t="t" r="r" b="b"/>
            <a:pathLst>
              <a:path w="6120130" h="19050">
                <a:moveTo>
                  <a:pt x="6120000" y="19050"/>
                </a:moveTo>
                <a:lnTo>
                  <a:pt x="0" y="19050"/>
                </a:lnTo>
                <a:lnTo>
                  <a:pt x="0" y="0"/>
                </a:lnTo>
                <a:lnTo>
                  <a:pt x="6120000" y="0"/>
                </a:lnTo>
                <a:lnTo>
                  <a:pt x="6120000" y="19050"/>
                </a:lnTo>
                <a:close/>
              </a:path>
            </a:pathLst>
          </a:custGeom>
          <a:solidFill>
            <a:srgbClr val="1A3A5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19999" y="1600748"/>
          <a:ext cx="6109970" cy="2661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5345"/>
                <a:gridCol w="2714625"/>
              </a:tblGrid>
              <a:tr h="44386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200" b="1" spc="-20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200" b="1" spc="-25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PRN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4386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200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Krishna</a:t>
                      </a:r>
                      <a:r>
                        <a:rPr sz="1200" spc="-40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Rajput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200" spc="-10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1262254099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</a:tr>
              <a:tr h="443230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200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Raju</a:t>
                      </a:r>
                      <a:r>
                        <a:rPr sz="1200" spc="-25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Choudhary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200" spc="-10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1262253997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</a:tr>
              <a:tr h="44386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200" spc="-10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Makarand</a:t>
                      </a:r>
                      <a:r>
                        <a:rPr sz="1200" spc="-40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Aru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200" spc="-10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1262251680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</a:tr>
              <a:tr h="443230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200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Pratik</a:t>
                      </a:r>
                      <a:r>
                        <a:rPr sz="1200" spc="-30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Kothare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200" spc="-10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1262253640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</a:tr>
              <a:tr h="44386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200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Rajveer</a:t>
                      </a:r>
                      <a:r>
                        <a:rPr sz="1200" spc="-65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Wagh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200" spc="-10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1262253065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719999" y="4931958"/>
            <a:ext cx="6120130" cy="19050"/>
          </a:xfrm>
          <a:custGeom>
            <a:avLst/>
            <a:gdLst/>
            <a:ahLst/>
            <a:cxnLst/>
            <a:rect l="l" t="t" r="r" b="b"/>
            <a:pathLst>
              <a:path w="6120130" h="19050">
                <a:moveTo>
                  <a:pt x="6120000" y="19050"/>
                </a:moveTo>
                <a:lnTo>
                  <a:pt x="0" y="19050"/>
                </a:lnTo>
                <a:lnTo>
                  <a:pt x="0" y="0"/>
                </a:lnTo>
                <a:lnTo>
                  <a:pt x="6120000" y="0"/>
                </a:lnTo>
                <a:lnTo>
                  <a:pt x="6120000" y="19050"/>
                </a:lnTo>
                <a:close/>
              </a:path>
            </a:pathLst>
          </a:custGeom>
          <a:solidFill>
            <a:srgbClr val="1A3A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19999" y="7275743"/>
            <a:ext cx="6120130" cy="19050"/>
          </a:xfrm>
          <a:custGeom>
            <a:avLst/>
            <a:gdLst/>
            <a:ahLst/>
            <a:cxnLst/>
            <a:rect l="l" t="t" r="r" b="b"/>
            <a:pathLst>
              <a:path w="6120130" h="19050">
                <a:moveTo>
                  <a:pt x="6120000" y="19050"/>
                </a:moveTo>
                <a:lnTo>
                  <a:pt x="0" y="19050"/>
                </a:lnTo>
                <a:lnTo>
                  <a:pt x="0" y="0"/>
                </a:lnTo>
                <a:lnTo>
                  <a:pt x="6120000" y="0"/>
                </a:lnTo>
                <a:lnTo>
                  <a:pt x="6120000" y="19050"/>
                </a:lnTo>
                <a:close/>
              </a:path>
            </a:pathLst>
          </a:custGeom>
          <a:solidFill>
            <a:srgbClr val="1A3A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7299" y="1020971"/>
            <a:ext cx="13779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35" dirty="0">
                <a:solidFill>
                  <a:srgbClr val="1A3A59"/>
                </a:solidFill>
                <a:latin typeface="Times New Roman"/>
                <a:cs typeface="Times New Roman"/>
              </a:rPr>
              <a:t>Team</a:t>
            </a:r>
            <a:r>
              <a:rPr sz="1600" b="1" spc="-40" dirty="0">
                <a:solidFill>
                  <a:srgbClr val="1A3A59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1A3A59"/>
                </a:solidFill>
                <a:latin typeface="Times New Roman"/>
                <a:cs typeface="Times New Roman"/>
              </a:rPr>
              <a:t>Members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7299" y="4574431"/>
            <a:ext cx="6147435" cy="4116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4470" indent="-191770">
              <a:lnSpc>
                <a:spcPct val="100000"/>
              </a:lnSpc>
              <a:spcBef>
                <a:spcPts val="100"/>
              </a:spcBef>
              <a:buClr>
                <a:srgbClr val="1A3A59"/>
              </a:buClr>
              <a:buFont typeface="Times New Roman"/>
              <a:buAutoNum type="arabicPeriod"/>
              <a:tabLst>
                <a:tab pos="204470" algn="l"/>
              </a:tabLst>
            </a:pPr>
            <a:r>
              <a:rPr sz="1600" b="1" spc="-10" dirty="0">
                <a:solidFill>
                  <a:srgbClr val="1A3A59"/>
                </a:solidFill>
                <a:latin typeface="Times New Roman"/>
                <a:cs typeface="Times New Roman"/>
              </a:rPr>
              <a:t>Abstract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0"/>
              </a:spcBef>
              <a:buClr>
                <a:srgbClr val="1A3A59"/>
              </a:buClr>
              <a:buFont typeface="Times New Roman"/>
              <a:buAutoNum type="arabicPeriod"/>
            </a:pPr>
            <a:endParaRPr sz="16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33300"/>
              </a:lnSpc>
            </a:pP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200" spc="1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Smart</a:t>
            </a:r>
            <a:r>
              <a:rPr sz="1200" spc="1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Bank</a:t>
            </a:r>
            <a:r>
              <a:rPr sz="1200" spc="1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Management</a:t>
            </a:r>
            <a:r>
              <a:rPr sz="1200" spc="1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System</a:t>
            </a:r>
            <a:r>
              <a:rPr sz="1200" spc="1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is</a:t>
            </a:r>
            <a:r>
              <a:rPr sz="1200" spc="1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1200" spc="1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comprehensive</a:t>
            </a:r>
            <a:r>
              <a:rPr sz="1200" spc="1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console-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based</a:t>
            </a:r>
            <a:r>
              <a:rPr sz="1200" spc="1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application</a:t>
            </a:r>
            <a:r>
              <a:rPr sz="1200" spc="1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engineered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using</a:t>
            </a:r>
            <a:r>
              <a:rPr sz="1200" spc="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200" spc="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</a:t>
            </a:r>
            <a:r>
              <a:rPr sz="1200" spc="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programming</a:t>
            </a:r>
            <a:r>
              <a:rPr sz="1200" spc="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language.</a:t>
            </a:r>
            <a:r>
              <a:rPr sz="1200" spc="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It</a:t>
            </a:r>
            <a:r>
              <a:rPr sz="1200" spc="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serves</a:t>
            </a:r>
            <a:r>
              <a:rPr sz="1200" spc="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as</a:t>
            </a:r>
            <a:r>
              <a:rPr sz="1200" spc="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1200" spc="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functional</a:t>
            </a:r>
            <a:r>
              <a:rPr sz="1200" spc="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simulation</a:t>
            </a:r>
            <a:r>
              <a:rPr sz="1200" spc="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1200" spc="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contemporary</a:t>
            </a:r>
            <a:r>
              <a:rPr sz="1200" spc="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banking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infrastructures,</a:t>
            </a:r>
            <a:r>
              <a:rPr sz="120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facilitating</a:t>
            </a:r>
            <a:r>
              <a:rPr sz="120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core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operations</a:t>
            </a:r>
            <a:r>
              <a:rPr sz="120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such</a:t>
            </a:r>
            <a:r>
              <a:rPr sz="120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as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account</a:t>
            </a:r>
            <a:r>
              <a:rPr sz="120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management,</a:t>
            </a:r>
            <a:r>
              <a:rPr sz="120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financial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transactions,</a:t>
            </a:r>
            <a:r>
              <a:rPr sz="120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and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administrative</a:t>
            </a:r>
            <a:r>
              <a:rPr sz="1200" spc="1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oversight.</a:t>
            </a:r>
            <a:r>
              <a:rPr sz="1200" spc="1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By</a:t>
            </a:r>
            <a:r>
              <a:rPr sz="1200" spc="1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leveraging</a:t>
            </a:r>
            <a:r>
              <a:rPr sz="1200" spc="1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structured</a:t>
            </a:r>
            <a:r>
              <a:rPr sz="1200" spc="1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programming</a:t>
            </a:r>
            <a:r>
              <a:rPr sz="1200" spc="1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1200" spc="1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modular</a:t>
            </a:r>
            <a:r>
              <a:rPr sz="1200" spc="1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design,</a:t>
            </a:r>
            <a:r>
              <a:rPr sz="1200" spc="1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200" spc="1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system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provides</a:t>
            </a:r>
            <a:r>
              <a:rPr sz="1200" spc="3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1200" spc="3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robust</a:t>
            </a:r>
            <a:r>
              <a:rPr sz="1200" spc="3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framework</a:t>
            </a:r>
            <a:r>
              <a:rPr sz="1200" spc="3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for</a:t>
            </a:r>
            <a:r>
              <a:rPr sz="1200" spc="3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understanding</a:t>
            </a:r>
            <a:r>
              <a:rPr sz="1200" spc="3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200" spc="3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intersection</a:t>
            </a:r>
            <a:r>
              <a:rPr sz="1200" spc="3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1200" spc="3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software</a:t>
            </a:r>
            <a:r>
              <a:rPr sz="1200" spc="3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engineering</a:t>
            </a:r>
            <a:r>
              <a:rPr sz="1200" spc="3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and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financial</a:t>
            </a:r>
            <a:r>
              <a:rPr sz="12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data</a:t>
            </a:r>
            <a:r>
              <a:rPr sz="1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management.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marL="215900" indent="-203200">
              <a:lnSpc>
                <a:spcPct val="100000"/>
              </a:lnSpc>
              <a:buClr>
                <a:srgbClr val="1A3A59"/>
              </a:buClr>
              <a:buFont typeface="Times New Roman"/>
              <a:buAutoNum type="arabicPeriod" startAt="2"/>
              <a:tabLst>
                <a:tab pos="215900" algn="l"/>
              </a:tabLst>
            </a:pPr>
            <a:r>
              <a:rPr sz="1600" b="1" spc="-10" dirty="0">
                <a:solidFill>
                  <a:srgbClr val="1A3A59"/>
                </a:solidFill>
                <a:latin typeface="Times New Roman"/>
                <a:cs typeface="Times New Roman"/>
              </a:rPr>
              <a:t>Introduction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33300"/>
              </a:lnSpc>
            </a:pP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In</a:t>
            </a:r>
            <a:r>
              <a:rPr sz="1200" spc="11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200" spc="1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modern</a:t>
            </a:r>
            <a:r>
              <a:rPr sz="1200" spc="1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digital</a:t>
            </a:r>
            <a:r>
              <a:rPr sz="1200" spc="1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era,</a:t>
            </a:r>
            <a:r>
              <a:rPr sz="1200" spc="1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banking</a:t>
            </a:r>
            <a:r>
              <a:rPr sz="1200" spc="1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systems</a:t>
            </a:r>
            <a:r>
              <a:rPr sz="1200" spc="1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play</a:t>
            </a:r>
            <a:r>
              <a:rPr sz="1200" spc="1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1200" spc="1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crucial</a:t>
            </a:r>
            <a:r>
              <a:rPr sz="1200" spc="1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role</a:t>
            </a:r>
            <a:r>
              <a:rPr sz="1200" spc="1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in</a:t>
            </a:r>
            <a:r>
              <a:rPr sz="1200" spc="1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managing</a:t>
            </a:r>
            <a:r>
              <a:rPr sz="1200" spc="11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financial</a:t>
            </a:r>
            <a:r>
              <a:rPr sz="1200" spc="1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transactions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efficiently</a:t>
            </a:r>
            <a:r>
              <a:rPr sz="1200" spc="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1200" spc="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securely.</a:t>
            </a:r>
            <a:r>
              <a:rPr sz="1200" spc="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Traditional</a:t>
            </a:r>
            <a:r>
              <a:rPr sz="1200" spc="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banking</a:t>
            </a:r>
            <a:r>
              <a:rPr sz="1200" spc="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methods</a:t>
            </a:r>
            <a:r>
              <a:rPr sz="1200" spc="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that</a:t>
            </a:r>
            <a:r>
              <a:rPr sz="1200" spc="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rely</a:t>
            </a:r>
            <a:r>
              <a:rPr sz="1200" spc="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on</a:t>
            </a:r>
            <a:r>
              <a:rPr sz="1200" spc="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manual</a:t>
            </a:r>
            <a:r>
              <a:rPr sz="1200" spc="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record-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keeping</a:t>
            </a:r>
            <a:r>
              <a:rPr sz="1200" spc="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are</a:t>
            </a:r>
            <a:r>
              <a:rPr sz="1200" spc="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often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slow,</a:t>
            </a:r>
            <a:r>
              <a:rPr sz="1200" spc="1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error-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prone,</a:t>
            </a:r>
            <a:r>
              <a:rPr sz="1200" spc="11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1200" spc="11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difficult</a:t>
            </a:r>
            <a:r>
              <a:rPr sz="1200" spc="1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to</a:t>
            </a:r>
            <a:r>
              <a:rPr sz="1200" spc="11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maintain.</a:t>
            </a:r>
            <a:r>
              <a:rPr sz="1200" spc="11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200" spc="11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Smart</a:t>
            </a:r>
            <a:r>
              <a:rPr sz="1200" spc="1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Bank</a:t>
            </a:r>
            <a:r>
              <a:rPr sz="1200" spc="11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Management</a:t>
            </a:r>
            <a:r>
              <a:rPr sz="1200" spc="11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System</a:t>
            </a:r>
            <a:r>
              <a:rPr sz="1200" spc="11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is</a:t>
            </a:r>
            <a:r>
              <a:rPr sz="1200" spc="1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designed</a:t>
            </a:r>
            <a:r>
              <a:rPr sz="1200" spc="11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to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simulate</a:t>
            </a:r>
            <a:r>
              <a:rPr sz="1200" spc="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basic</a:t>
            </a:r>
            <a:r>
              <a:rPr sz="1200" spc="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banking</a:t>
            </a:r>
            <a:r>
              <a:rPr sz="1200" spc="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operations</a:t>
            </a:r>
            <a:r>
              <a:rPr sz="1200" spc="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such</a:t>
            </a:r>
            <a:r>
              <a:rPr sz="1200" spc="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as</a:t>
            </a:r>
            <a:r>
              <a:rPr sz="1200" spc="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account</a:t>
            </a:r>
            <a:r>
              <a:rPr sz="1200" spc="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creation,</a:t>
            </a:r>
            <a:r>
              <a:rPr sz="1200" spc="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deposit,</a:t>
            </a:r>
            <a:r>
              <a:rPr sz="1200" spc="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withdrawal,</a:t>
            </a:r>
            <a:r>
              <a:rPr sz="1200" spc="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1200" spc="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fund</a:t>
            </a:r>
            <a:r>
              <a:rPr sz="1200" spc="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transfer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while</a:t>
            </a:r>
            <a:r>
              <a:rPr sz="12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focusing</a:t>
            </a:r>
            <a:r>
              <a:rPr sz="1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on</a:t>
            </a:r>
            <a:r>
              <a:rPr sz="1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core</a:t>
            </a:r>
            <a:r>
              <a:rPr sz="1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programming</a:t>
            </a:r>
            <a:r>
              <a:rPr sz="1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concepts.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0000" y="3436533"/>
            <a:ext cx="6120130" cy="19050"/>
          </a:xfrm>
          <a:custGeom>
            <a:avLst/>
            <a:gdLst/>
            <a:ahLst/>
            <a:cxnLst/>
            <a:rect l="l" t="t" r="r" b="b"/>
            <a:pathLst>
              <a:path w="6120130" h="19050">
                <a:moveTo>
                  <a:pt x="6119999" y="19050"/>
                </a:moveTo>
                <a:lnTo>
                  <a:pt x="0" y="19050"/>
                </a:lnTo>
                <a:lnTo>
                  <a:pt x="0" y="0"/>
                </a:lnTo>
                <a:lnTo>
                  <a:pt x="6119999" y="0"/>
                </a:lnTo>
                <a:lnTo>
                  <a:pt x="6119999" y="19050"/>
                </a:lnTo>
                <a:close/>
              </a:path>
            </a:pathLst>
          </a:custGeom>
          <a:solidFill>
            <a:srgbClr val="1A39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20000" y="6892838"/>
            <a:ext cx="6120130" cy="19050"/>
          </a:xfrm>
          <a:custGeom>
            <a:avLst/>
            <a:gdLst/>
            <a:ahLst/>
            <a:cxnLst/>
            <a:rect l="l" t="t" r="r" b="b"/>
            <a:pathLst>
              <a:path w="6120130" h="19050">
                <a:moveTo>
                  <a:pt x="6119999" y="19050"/>
                </a:moveTo>
                <a:lnTo>
                  <a:pt x="0" y="19050"/>
                </a:lnTo>
                <a:lnTo>
                  <a:pt x="0" y="0"/>
                </a:lnTo>
                <a:lnTo>
                  <a:pt x="6119999" y="0"/>
                </a:lnTo>
                <a:lnTo>
                  <a:pt x="6119999" y="19050"/>
                </a:lnTo>
                <a:close/>
              </a:path>
            </a:pathLst>
          </a:custGeom>
          <a:solidFill>
            <a:srgbClr val="1A39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7300" y="735254"/>
            <a:ext cx="6149340" cy="9095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265" indent="-202565">
              <a:lnSpc>
                <a:spcPct val="100000"/>
              </a:lnSpc>
              <a:spcBef>
                <a:spcPts val="100"/>
              </a:spcBef>
              <a:buClr>
                <a:srgbClr val="1A395A"/>
              </a:buClr>
              <a:buFont typeface="Times New Roman"/>
              <a:buAutoNum type="arabicPeriod" startAt="3"/>
              <a:tabLst>
                <a:tab pos="215265" algn="l"/>
              </a:tabLst>
            </a:pPr>
            <a:r>
              <a:rPr sz="1600" b="1" dirty="0">
                <a:solidFill>
                  <a:srgbClr val="1A395A"/>
                </a:solidFill>
                <a:latin typeface="Times New Roman"/>
                <a:cs typeface="Times New Roman"/>
              </a:rPr>
              <a:t>Problem</a:t>
            </a:r>
            <a:r>
              <a:rPr sz="1600" b="1" spc="-80" dirty="0">
                <a:solidFill>
                  <a:srgbClr val="1A395A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1A395A"/>
                </a:solidFill>
                <a:latin typeface="Times New Roman"/>
                <a:cs typeface="Times New Roman"/>
              </a:rPr>
              <a:t>Statement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0"/>
              </a:spcBef>
              <a:buClr>
                <a:srgbClr val="1A395A"/>
              </a:buClr>
              <a:buFont typeface="Times New Roman"/>
              <a:buAutoNum type="arabicPeriod" startAt="3"/>
            </a:pPr>
            <a:endParaRPr sz="16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33300"/>
              </a:lnSpc>
            </a:pP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Managing</a:t>
            </a:r>
            <a:r>
              <a:rPr sz="1200" spc="15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banking</a:t>
            </a:r>
            <a:r>
              <a:rPr sz="1200" spc="15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operations</a:t>
            </a:r>
            <a:r>
              <a:rPr sz="1200" spc="15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manually</a:t>
            </a:r>
            <a:r>
              <a:rPr sz="1200" spc="15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leads</a:t>
            </a:r>
            <a:r>
              <a:rPr sz="1200" spc="15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to</a:t>
            </a:r>
            <a:r>
              <a:rPr sz="1200" spc="15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several</a:t>
            </a:r>
            <a:r>
              <a:rPr sz="1200" spc="15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systemic</a:t>
            </a:r>
            <a:r>
              <a:rPr sz="1200" spc="15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issues,</a:t>
            </a:r>
            <a:r>
              <a:rPr sz="1200" spc="15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primarily</a:t>
            </a:r>
            <a:r>
              <a:rPr sz="1200" spc="155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1200" spc="-20" dirty="0">
                <a:solidFill>
                  <a:srgbClr val="333333"/>
                </a:solidFill>
                <a:latin typeface="Times New Roman"/>
                <a:cs typeface="Times New Roman"/>
              </a:rPr>
              <a:t>data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inconsistency,</a:t>
            </a:r>
            <a:r>
              <a:rPr sz="1200" spc="20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lack</a:t>
            </a:r>
            <a:r>
              <a:rPr sz="1200" spc="2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1200" spc="2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security,</a:t>
            </a:r>
            <a:r>
              <a:rPr sz="1200" spc="2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1200" spc="2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significant</a:t>
            </a:r>
            <a:r>
              <a:rPr sz="1200" spc="2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human</a:t>
            </a:r>
            <a:r>
              <a:rPr sz="1200" spc="2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error</a:t>
            </a:r>
            <a:r>
              <a:rPr sz="1200" spc="2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in</a:t>
            </a:r>
            <a:r>
              <a:rPr sz="1200" spc="20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transaction</a:t>
            </a:r>
            <a:r>
              <a:rPr sz="1200" spc="2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handling.</a:t>
            </a:r>
            <a:r>
              <a:rPr sz="1200" spc="2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There</a:t>
            </a:r>
            <a:r>
              <a:rPr sz="1200" spc="2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is</a:t>
            </a:r>
            <a:r>
              <a:rPr sz="1200" spc="2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0" dirty="0">
                <a:solidFill>
                  <a:srgbClr val="333333"/>
                </a:solidFill>
                <a:latin typeface="Times New Roman"/>
                <a:cs typeface="Times New Roman"/>
              </a:rPr>
              <a:t>a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critical</a:t>
            </a:r>
            <a:r>
              <a:rPr sz="1200" spc="3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requirement</a:t>
            </a:r>
            <a:r>
              <a:rPr sz="1200" spc="3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for</a:t>
            </a:r>
            <a:r>
              <a:rPr sz="1200" spc="30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an</a:t>
            </a:r>
            <a:r>
              <a:rPr sz="1200" spc="3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automated</a:t>
            </a:r>
            <a:r>
              <a:rPr sz="1200" spc="30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system</a:t>
            </a:r>
            <a:r>
              <a:rPr sz="1200" spc="3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that</a:t>
            </a:r>
            <a:r>
              <a:rPr sz="1200" spc="30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can</a:t>
            </a:r>
            <a:r>
              <a:rPr sz="1200" spc="3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efficiently</a:t>
            </a:r>
            <a:r>
              <a:rPr sz="1200" spc="30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store</a:t>
            </a:r>
            <a:r>
              <a:rPr sz="1200" spc="3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1200" spc="3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manage</a:t>
            </a:r>
            <a:r>
              <a:rPr sz="1200" spc="30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customer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account</a:t>
            </a:r>
            <a:r>
              <a:rPr sz="1200" spc="9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details</a:t>
            </a:r>
            <a:r>
              <a:rPr sz="1200" spc="9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while</a:t>
            </a:r>
            <a:r>
              <a:rPr sz="1200" spc="9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providing</a:t>
            </a:r>
            <a:r>
              <a:rPr sz="1200" spc="9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controlled</a:t>
            </a:r>
            <a:r>
              <a:rPr sz="1200" spc="9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access</a:t>
            </a:r>
            <a:r>
              <a:rPr sz="1200" spc="9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to</a:t>
            </a:r>
            <a:r>
              <a:rPr sz="1200" spc="9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authorized</a:t>
            </a:r>
            <a:r>
              <a:rPr sz="1200" spc="9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users</a:t>
            </a:r>
            <a:r>
              <a:rPr sz="1200" spc="9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only.</a:t>
            </a:r>
            <a:r>
              <a:rPr sz="1200" spc="9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This</a:t>
            </a:r>
            <a:r>
              <a:rPr sz="1200" spc="9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project</a:t>
            </a:r>
            <a:r>
              <a:rPr sz="1200" spc="9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addresses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these</a:t>
            </a:r>
            <a:r>
              <a:rPr sz="1200" spc="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challenges</a:t>
            </a:r>
            <a:r>
              <a:rPr sz="1200" spc="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by</a:t>
            </a:r>
            <a:r>
              <a:rPr sz="1200" spc="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developing</a:t>
            </a:r>
            <a:r>
              <a:rPr sz="1200" spc="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1200" spc="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structured</a:t>
            </a:r>
            <a:r>
              <a:rPr sz="1200" spc="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1200" spc="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automated</a:t>
            </a:r>
            <a:r>
              <a:rPr sz="1200" spc="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environment</a:t>
            </a:r>
            <a:r>
              <a:rPr sz="1200" spc="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that</a:t>
            </a:r>
            <a:r>
              <a:rPr sz="1200" spc="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ensures</a:t>
            </a:r>
            <a:r>
              <a:rPr sz="1200" spc="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accuracy</a:t>
            </a:r>
            <a:r>
              <a:rPr sz="1200" spc="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and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basic</a:t>
            </a:r>
            <a:r>
              <a:rPr sz="1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security</a:t>
            </a:r>
            <a:r>
              <a:rPr sz="1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for</a:t>
            </a:r>
            <a:r>
              <a:rPr sz="1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all</a:t>
            </a:r>
            <a:r>
              <a:rPr sz="1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customer</a:t>
            </a:r>
            <a:r>
              <a:rPr sz="1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interactions.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marL="215265" indent="-202565">
              <a:lnSpc>
                <a:spcPct val="100000"/>
              </a:lnSpc>
              <a:buClr>
                <a:srgbClr val="1A395A"/>
              </a:buClr>
              <a:buFont typeface="Times New Roman"/>
              <a:buAutoNum type="arabicPeriod" startAt="4"/>
              <a:tabLst>
                <a:tab pos="215265" algn="l"/>
              </a:tabLst>
            </a:pPr>
            <a:r>
              <a:rPr sz="1600" b="1" spc="-10" dirty="0">
                <a:solidFill>
                  <a:srgbClr val="1A395A"/>
                </a:solidFill>
                <a:latin typeface="Times New Roman"/>
                <a:cs typeface="Times New Roman"/>
              </a:rPr>
              <a:t>Objectives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0"/>
              </a:spcBef>
              <a:buClr>
                <a:srgbClr val="1A395A"/>
              </a:buClr>
              <a:buFont typeface="Times New Roman"/>
              <a:buAutoNum type="arabicPeriod" startAt="4"/>
            </a:pPr>
            <a:endParaRPr sz="1600">
              <a:latin typeface="Times New Roman"/>
              <a:cs typeface="Times New Roman"/>
            </a:endParaRPr>
          </a:p>
          <a:p>
            <a:pPr marL="12700" marR="9525" algn="just">
              <a:lnSpc>
                <a:spcPct val="133300"/>
              </a:lnSpc>
            </a:pP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200" spc="2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main</a:t>
            </a:r>
            <a:r>
              <a:rPr sz="1200" spc="2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objective</a:t>
            </a:r>
            <a:r>
              <a:rPr sz="1200" spc="2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1200" spc="2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this</a:t>
            </a:r>
            <a:r>
              <a:rPr sz="1200" spc="2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project</a:t>
            </a:r>
            <a:r>
              <a:rPr sz="1200" spc="2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is</a:t>
            </a:r>
            <a:r>
              <a:rPr sz="1200" spc="2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to</a:t>
            </a:r>
            <a:r>
              <a:rPr sz="1200" spc="2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design</a:t>
            </a:r>
            <a:r>
              <a:rPr sz="1200" spc="2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1200" spc="2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implement</a:t>
            </a:r>
            <a:r>
              <a:rPr sz="1200" spc="2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1200" spc="2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simple</a:t>
            </a:r>
            <a:r>
              <a:rPr sz="1200" spc="2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banking</a:t>
            </a:r>
            <a:r>
              <a:rPr sz="1200" spc="2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system</a:t>
            </a:r>
            <a:r>
              <a:rPr sz="1200" spc="2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333333"/>
                </a:solidFill>
                <a:latin typeface="Times New Roman"/>
                <a:cs typeface="Times New Roman"/>
              </a:rPr>
              <a:t>that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demonstrates</a:t>
            </a:r>
            <a:r>
              <a:rPr sz="1200" spc="4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200" spc="4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working</a:t>
            </a:r>
            <a:r>
              <a:rPr sz="1200" spc="4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1200" spc="4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real-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world</a:t>
            </a:r>
            <a:r>
              <a:rPr sz="1200" spc="4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banking</a:t>
            </a:r>
            <a:r>
              <a:rPr sz="1200" spc="4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operations</a:t>
            </a:r>
            <a:r>
              <a:rPr sz="1200" spc="4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using</a:t>
            </a:r>
            <a:r>
              <a:rPr sz="1200" spc="4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</a:t>
            </a:r>
            <a:r>
              <a:rPr sz="1200" spc="4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programming.</a:t>
            </a:r>
            <a:r>
              <a:rPr sz="1200" spc="4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Specific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technical</a:t>
            </a:r>
            <a:r>
              <a:rPr sz="1200" spc="-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goals</a:t>
            </a:r>
            <a:r>
              <a:rPr sz="1200" spc="-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include: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200">
              <a:latin typeface="Times New Roman"/>
              <a:cs typeface="Times New Roman"/>
            </a:endParaRPr>
          </a:p>
          <a:p>
            <a:pPr marL="393065" lvl="1" indent="-91440">
              <a:lnSpc>
                <a:spcPct val="100000"/>
              </a:lnSpc>
              <a:buChar char="•"/>
              <a:tabLst>
                <a:tab pos="393065" algn="l"/>
              </a:tabLst>
            </a:pP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Creation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robust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system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capable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12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managing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multiple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customer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accounts</a:t>
            </a:r>
            <a:r>
              <a:rPr sz="1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simultaneously.</a:t>
            </a:r>
            <a:endParaRPr sz="1200">
              <a:latin typeface="Times New Roman"/>
              <a:cs typeface="Times New Roman"/>
            </a:endParaRPr>
          </a:p>
          <a:p>
            <a:pPr marL="393065" lvl="1" indent="-91440">
              <a:lnSpc>
                <a:spcPct val="100000"/>
              </a:lnSpc>
              <a:spcBef>
                <a:spcPts val="1080"/>
              </a:spcBef>
              <a:buChar char="•"/>
              <a:tabLst>
                <a:tab pos="393065" algn="l"/>
              </a:tabLst>
            </a:pP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Implementation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secure</a:t>
            </a:r>
            <a:r>
              <a:rPr sz="12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login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functionality</a:t>
            </a:r>
            <a:r>
              <a:rPr sz="12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for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both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administrative</a:t>
            </a:r>
            <a:r>
              <a:rPr sz="12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customer</a:t>
            </a:r>
            <a:r>
              <a:rPr sz="12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tiers.</a:t>
            </a:r>
            <a:endParaRPr sz="1200">
              <a:latin typeface="Times New Roman"/>
              <a:cs typeface="Times New Roman"/>
            </a:endParaRPr>
          </a:p>
          <a:p>
            <a:pPr marL="393065" marR="8890" lvl="1" indent="-92075">
              <a:lnSpc>
                <a:spcPct val="133300"/>
              </a:lnSpc>
              <a:spcBef>
                <a:spcPts val="600"/>
              </a:spcBef>
              <a:buChar char="•"/>
              <a:tabLst>
                <a:tab pos="393065" algn="l"/>
              </a:tabLst>
            </a:pP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Execution</a:t>
            </a:r>
            <a:r>
              <a:rPr sz="1200" spc="2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1200" spc="229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core</a:t>
            </a:r>
            <a:r>
              <a:rPr sz="1200" spc="229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banking</a:t>
            </a:r>
            <a:r>
              <a:rPr sz="1200" spc="2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operations,</a:t>
            </a:r>
            <a:r>
              <a:rPr sz="1200" spc="229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including</a:t>
            </a:r>
            <a:r>
              <a:rPr sz="1200" spc="229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deposits,</a:t>
            </a:r>
            <a:r>
              <a:rPr sz="1200" spc="2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withdrawals,</a:t>
            </a:r>
            <a:r>
              <a:rPr sz="1200" spc="229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1200" spc="229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inter-account transfers.</a:t>
            </a:r>
            <a:endParaRPr sz="1200">
              <a:latin typeface="Times New Roman"/>
              <a:cs typeface="Times New Roman"/>
            </a:endParaRPr>
          </a:p>
          <a:p>
            <a:pPr marL="393065" marR="9525" lvl="1" indent="-92075">
              <a:lnSpc>
                <a:spcPct val="133300"/>
              </a:lnSpc>
              <a:spcBef>
                <a:spcPts val="600"/>
              </a:spcBef>
              <a:buChar char="•"/>
              <a:tabLst>
                <a:tab pos="393065" algn="l"/>
              </a:tabLst>
            </a:pP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Provision</a:t>
            </a:r>
            <a:r>
              <a:rPr sz="1200" spc="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1200" spc="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account</a:t>
            </a:r>
            <a:r>
              <a:rPr sz="1200" spc="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maintenance</a:t>
            </a:r>
            <a:r>
              <a:rPr sz="1200" spc="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features</a:t>
            </a:r>
            <a:r>
              <a:rPr sz="1200" spc="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such</a:t>
            </a:r>
            <a:r>
              <a:rPr sz="1200" spc="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as</a:t>
            </a:r>
            <a:r>
              <a:rPr sz="1200" spc="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PIN</a:t>
            </a:r>
            <a:r>
              <a:rPr sz="1200" spc="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modification</a:t>
            </a:r>
            <a:r>
              <a:rPr sz="1200" spc="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1200" spc="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emergency</a:t>
            </a:r>
            <a:r>
              <a:rPr sz="1200" spc="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account blocking.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Clr>
                <a:srgbClr val="333333"/>
              </a:buClr>
              <a:buFont typeface="Times New Roman"/>
              <a:buChar char="•"/>
            </a:pP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333333"/>
              </a:buClr>
              <a:buFont typeface="Times New Roman"/>
              <a:buChar char="•"/>
            </a:pPr>
            <a:endParaRPr sz="1200">
              <a:latin typeface="Times New Roman"/>
              <a:cs typeface="Times New Roman"/>
            </a:endParaRPr>
          </a:p>
          <a:p>
            <a:pPr marL="215265" indent="-202565">
              <a:lnSpc>
                <a:spcPct val="100000"/>
              </a:lnSpc>
              <a:buClr>
                <a:srgbClr val="1A395A"/>
              </a:buClr>
              <a:buFont typeface="Times New Roman"/>
              <a:buAutoNum type="arabicPeriod" startAt="5"/>
              <a:tabLst>
                <a:tab pos="215265" algn="l"/>
              </a:tabLst>
            </a:pPr>
            <a:r>
              <a:rPr sz="1600" b="1" dirty="0">
                <a:solidFill>
                  <a:srgbClr val="1A395A"/>
                </a:solidFill>
                <a:latin typeface="Times New Roman"/>
                <a:cs typeface="Times New Roman"/>
              </a:rPr>
              <a:t>Methodology</a:t>
            </a:r>
            <a:r>
              <a:rPr sz="1600" b="1" spc="-60" dirty="0">
                <a:solidFill>
                  <a:srgbClr val="1A395A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1A395A"/>
                </a:solidFill>
                <a:latin typeface="Times New Roman"/>
                <a:cs typeface="Times New Roman"/>
              </a:rPr>
              <a:t>&amp;</a:t>
            </a:r>
            <a:r>
              <a:rPr sz="1600" b="1" spc="-55" dirty="0">
                <a:solidFill>
                  <a:srgbClr val="1A395A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1A395A"/>
                </a:solidFill>
                <a:latin typeface="Times New Roman"/>
                <a:cs typeface="Times New Roman"/>
              </a:rPr>
              <a:t>System</a:t>
            </a:r>
            <a:r>
              <a:rPr sz="1600" b="1" spc="-55" dirty="0">
                <a:solidFill>
                  <a:srgbClr val="1A395A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1A395A"/>
                </a:solidFill>
                <a:latin typeface="Times New Roman"/>
                <a:cs typeface="Times New Roman"/>
              </a:rPr>
              <a:t>Modules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0"/>
              </a:spcBef>
              <a:buClr>
                <a:srgbClr val="1A395A"/>
              </a:buClr>
              <a:buFont typeface="Times New Roman"/>
              <a:buAutoNum type="arabicPeriod" startAt="5"/>
            </a:pPr>
            <a:endParaRPr sz="16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33300"/>
              </a:lnSpc>
            </a:pP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200" spc="25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development</a:t>
            </a:r>
            <a:r>
              <a:rPr sz="1200" spc="2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follows</a:t>
            </a:r>
            <a:r>
              <a:rPr sz="1200" spc="2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1200" spc="2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modular,</a:t>
            </a:r>
            <a:r>
              <a:rPr sz="1200" spc="2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menu-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driven</a:t>
            </a:r>
            <a:r>
              <a:rPr sz="1200" spc="2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approach</a:t>
            </a:r>
            <a:r>
              <a:rPr sz="1200" spc="2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where</a:t>
            </a:r>
            <a:r>
              <a:rPr sz="1200" spc="25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200" spc="2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user</a:t>
            </a:r>
            <a:r>
              <a:rPr sz="1200" spc="2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interacts</a:t>
            </a:r>
            <a:r>
              <a:rPr sz="1200" spc="2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with</a:t>
            </a:r>
            <a:r>
              <a:rPr sz="1200" spc="2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the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system</a:t>
            </a:r>
            <a:r>
              <a:rPr sz="1200" spc="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via</a:t>
            </a:r>
            <a:r>
              <a:rPr sz="1200" spc="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defined</a:t>
            </a:r>
            <a:r>
              <a:rPr sz="1200" spc="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command-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line</a:t>
            </a:r>
            <a:r>
              <a:rPr sz="1200" spc="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options.</a:t>
            </a:r>
            <a:r>
              <a:rPr sz="1200" spc="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200" spc="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system</a:t>
            </a:r>
            <a:r>
              <a:rPr sz="1200" spc="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is</a:t>
            </a:r>
            <a:r>
              <a:rPr sz="1200" spc="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architecturally</a:t>
            </a:r>
            <a:r>
              <a:rPr sz="1200" spc="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divided</a:t>
            </a:r>
            <a:r>
              <a:rPr sz="1200" spc="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into</a:t>
            </a:r>
            <a:r>
              <a:rPr sz="1200" spc="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three</a:t>
            </a:r>
            <a:r>
              <a:rPr sz="1200" spc="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primary modules:</a:t>
            </a:r>
            <a:endParaRPr sz="1200">
              <a:latin typeface="Times New Roman"/>
              <a:cs typeface="Times New Roman"/>
            </a:endParaRPr>
          </a:p>
          <a:p>
            <a:pPr marL="393065" marR="5715" lvl="1" indent="-92075" algn="just">
              <a:lnSpc>
                <a:spcPct val="133300"/>
              </a:lnSpc>
              <a:spcBef>
                <a:spcPts val="1200"/>
              </a:spcBef>
              <a:buFont typeface="Times New Roman"/>
              <a:buChar char="•"/>
              <a:tabLst>
                <a:tab pos="393065" algn="l"/>
              </a:tabLst>
            </a:pPr>
            <a:r>
              <a:rPr sz="1200" b="1" dirty="0">
                <a:solidFill>
                  <a:srgbClr val="333333"/>
                </a:solidFill>
                <a:latin typeface="Times New Roman"/>
                <a:cs typeface="Times New Roman"/>
              </a:rPr>
              <a:t>Admin</a:t>
            </a:r>
            <a:r>
              <a:rPr sz="1200" b="1" spc="1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33333"/>
                </a:solidFill>
                <a:latin typeface="Times New Roman"/>
                <a:cs typeface="Times New Roman"/>
              </a:rPr>
              <a:t>Panel:</a:t>
            </a:r>
            <a:r>
              <a:rPr sz="1200" b="1" spc="1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200" spc="1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administrator</a:t>
            </a:r>
            <a:r>
              <a:rPr sz="1200" spc="1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possesses</a:t>
            </a:r>
            <a:r>
              <a:rPr sz="1200" spc="1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global</a:t>
            </a:r>
            <a:r>
              <a:rPr sz="1200" spc="1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control</a:t>
            </a:r>
            <a:r>
              <a:rPr sz="1200" spc="1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over</a:t>
            </a:r>
            <a:r>
              <a:rPr sz="1200" spc="1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200" spc="1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system,</a:t>
            </a:r>
            <a:r>
              <a:rPr sz="1200" spc="1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enabling</a:t>
            </a:r>
            <a:r>
              <a:rPr sz="1200" spc="1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high-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level</a:t>
            </a:r>
            <a:r>
              <a:rPr sz="1200" spc="409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tasks</a:t>
            </a:r>
            <a:r>
              <a:rPr sz="1200" spc="4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such</a:t>
            </a:r>
            <a:r>
              <a:rPr sz="1200" spc="4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as</a:t>
            </a:r>
            <a:r>
              <a:rPr sz="1200" spc="4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creating</a:t>
            </a:r>
            <a:r>
              <a:rPr sz="1200" spc="4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new</a:t>
            </a:r>
            <a:r>
              <a:rPr sz="1200" spc="4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customer</a:t>
            </a:r>
            <a:r>
              <a:rPr sz="1200" spc="4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accounts,</a:t>
            </a:r>
            <a:r>
              <a:rPr sz="1200" spc="4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auditing</a:t>
            </a:r>
            <a:r>
              <a:rPr sz="1200" spc="4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records,</a:t>
            </a:r>
            <a:r>
              <a:rPr sz="1200" spc="4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1200" spc="4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reviewing complaints.</a:t>
            </a:r>
            <a:endParaRPr sz="1200">
              <a:latin typeface="Times New Roman"/>
              <a:cs typeface="Times New Roman"/>
            </a:endParaRPr>
          </a:p>
          <a:p>
            <a:pPr marL="393065" marR="9525" lvl="1" indent="-92075" algn="just">
              <a:lnSpc>
                <a:spcPct val="133300"/>
              </a:lnSpc>
              <a:spcBef>
                <a:spcPts val="605"/>
              </a:spcBef>
              <a:buFont typeface="Times New Roman"/>
              <a:buChar char="•"/>
              <a:tabLst>
                <a:tab pos="393065" algn="l"/>
              </a:tabLst>
            </a:pPr>
            <a:r>
              <a:rPr sz="1200" b="1" dirty="0">
                <a:solidFill>
                  <a:srgbClr val="333333"/>
                </a:solidFill>
                <a:latin typeface="Times New Roman"/>
                <a:cs typeface="Times New Roman"/>
              </a:rPr>
              <a:t>Customer</a:t>
            </a:r>
            <a:r>
              <a:rPr sz="1200" b="1" spc="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33333"/>
                </a:solidFill>
                <a:latin typeface="Times New Roman"/>
                <a:cs typeface="Times New Roman"/>
              </a:rPr>
              <a:t>Panel:</a:t>
            </a:r>
            <a:r>
              <a:rPr sz="1200" b="1" spc="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Customers</a:t>
            </a:r>
            <a:r>
              <a:rPr sz="1200" spc="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gain</a:t>
            </a:r>
            <a:r>
              <a:rPr sz="1200" spc="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access</a:t>
            </a:r>
            <a:r>
              <a:rPr sz="1200" spc="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to</a:t>
            </a:r>
            <a:r>
              <a:rPr sz="1200" spc="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their</a:t>
            </a:r>
            <a:r>
              <a:rPr sz="1200" spc="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specific</a:t>
            </a:r>
            <a:r>
              <a:rPr sz="1200" spc="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account</a:t>
            </a:r>
            <a:r>
              <a:rPr sz="1200" spc="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using</a:t>
            </a:r>
            <a:r>
              <a:rPr sz="1200" spc="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an</a:t>
            </a:r>
            <a:r>
              <a:rPr sz="1200" spc="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account</a:t>
            </a:r>
            <a:r>
              <a:rPr sz="1200" spc="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number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1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unique</a:t>
            </a:r>
            <a:r>
              <a:rPr sz="1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PIN</a:t>
            </a:r>
            <a:r>
              <a:rPr sz="1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to</a:t>
            </a:r>
            <a:r>
              <a:rPr sz="1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perform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deposits,</a:t>
            </a:r>
            <a:r>
              <a:rPr sz="1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withdrawals,</a:t>
            </a:r>
            <a:r>
              <a:rPr sz="1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fund</a:t>
            </a:r>
            <a:r>
              <a:rPr sz="1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transfers.</a:t>
            </a:r>
            <a:endParaRPr sz="1200">
              <a:latin typeface="Times New Roman"/>
              <a:cs typeface="Times New Roman"/>
            </a:endParaRPr>
          </a:p>
          <a:p>
            <a:pPr marL="393065" marR="6985" lvl="1" indent="-92075" algn="just">
              <a:lnSpc>
                <a:spcPct val="133300"/>
              </a:lnSpc>
              <a:spcBef>
                <a:spcPts val="600"/>
              </a:spcBef>
              <a:buFont typeface="Times New Roman"/>
              <a:buChar char="•"/>
              <a:tabLst>
                <a:tab pos="393065" algn="l"/>
              </a:tabLst>
            </a:pPr>
            <a:r>
              <a:rPr sz="1200" b="1" dirty="0">
                <a:solidFill>
                  <a:srgbClr val="333333"/>
                </a:solidFill>
                <a:latin typeface="Times New Roman"/>
                <a:cs typeface="Times New Roman"/>
              </a:rPr>
              <a:t>Help</a:t>
            </a:r>
            <a:r>
              <a:rPr sz="1200" b="1" spc="1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1200" b="1" spc="1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33333"/>
                </a:solidFill>
                <a:latin typeface="Times New Roman"/>
                <a:cs typeface="Times New Roman"/>
              </a:rPr>
              <a:t>Support:</a:t>
            </a:r>
            <a:r>
              <a:rPr sz="1200" b="1" spc="1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This</a:t>
            </a:r>
            <a:r>
              <a:rPr sz="1200" spc="1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module</a:t>
            </a:r>
            <a:r>
              <a:rPr sz="1200" spc="1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provides</a:t>
            </a:r>
            <a:r>
              <a:rPr sz="1200" spc="1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1200" spc="1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communication</a:t>
            </a:r>
            <a:r>
              <a:rPr sz="1200" spc="1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channel</a:t>
            </a:r>
            <a:r>
              <a:rPr sz="1200" spc="1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where</a:t>
            </a:r>
            <a:r>
              <a:rPr sz="1200" spc="1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users</a:t>
            </a:r>
            <a:r>
              <a:rPr sz="1200" spc="1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can</a:t>
            </a:r>
            <a:r>
              <a:rPr sz="1200" spc="1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log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issues</a:t>
            </a:r>
            <a:r>
              <a:rPr sz="12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or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complaints,</a:t>
            </a:r>
            <a:r>
              <a:rPr sz="1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allowing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administrators</a:t>
            </a:r>
            <a:r>
              <a:rPr sz="12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to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address</a:t>
            </a:r>
            <a:r>
              <a:rPr sz="1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customer</a:t>
            </a:r>
            <a:r>
              <a:rPr sz="1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concerns</a:t>
            </a:r>
            <a:r>
              <a:rPr sz="1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effectively.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7300" y="735254"/>
            <a:ext cx="6163945" cy="1527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1A395A"/>
                </a:solidFill>
                <a:latin typeface="Times New Roman"/>
                <a:cs typeface="Times New Roman"/>
              </a:rPr>
              <a:t>6.</a:t>
            </a:r>
            <a:r>
              <a:rPr sz="1600" b="1" spc="-25" dirty="0">
                <a:solidFill>
                  <a:srgbClr val="1A395A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1A395A"/>
                </a:solidFill>
                <a:latin typeface="Times New Roman"/>
                <a:cs typeface="Times New Roman"/>
              </a:rPr>
              <a:t>Implementation</a:t>
            </a:r>
            <a:r>
              <a:rPr sz="1600" b="1" spc="-20" dirty="0">
                <a:solidFill>
                  <a:srgbClr val="1A395A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1A395A"/>
                </a:solidFill>
                <a:latin typeface="Times New Roman"/>
                <a:cs typeface="Times New Roman"/>
              </a:rPr>
              <a:t>Details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33300"/>
              </a:lnSpc>
            </a:pP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200" spc="1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system</a:t>
            </a:r>
            <a:r>
              <a:rPr sz="1200" spc="1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is</a:t>
            </a:r>
            <a:r>
              <a:rPr sz="1200" spc="1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implemented</a:t>
            </a:r>
            <a:r>
              <a:rPr sz="1200" spc="1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using</a:t>
            </a:r>
            <a:r>
              <a:rPr sz="1200" spc="1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200" spc="1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</a:t>
            </a:r>
            <a:r>
              <a:rPr sz="1200" spc="1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programming</a:t>
            </a:r>
            <a:r>
              <a:rPr sz="1200" spc="1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language,</a:t>
            </a:r>
            <a:r>
              <a:rPr sz="1200" spc="1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utilizing</a:t>
            </a:r>
            <a:r>
              <a:rPr sz="1200" spc="1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Structures</a:t>
            </a:r>
            <a:r>
              <a:rPr sz="1200" spc="1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to</a:t>
            </a:r>
            <a:r>
              <a:rPr sz="1200" spc="1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represent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customer</a:t>
            </a:r>
            <a:r>
              <a:rPr sz="1200" spc="1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data.</a:t>
            </a:r>
            <a:r>
              <a:rPr sz="1200" spc="1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Each</a:t>
            </a:r>
            <a:r>
              <a:rPr sz="1200" spc="1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record</a:t>
            </a:r>
            <a:r>
              <a:rPr sz="1200" spc="1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contains</a:t>
            </a:r>
            <a:r>
              <a:rPr sz="1200" spc="1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fields</a:t>
            </a:r>
            <a:r>
              <a:rPr sz="1200" spc="1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for</a:t>
            </a:r>
            <a:r>
              <a:rPr sz="1200" spc="1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Account</a:t>
            </a:r>
            <a:r>
              <a:rPr sz="1200" spc="1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Number,</a:t>
            </a:r>
            <a:r>
              <a:rPr sz="1200" spc="1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Customer</a:t>
            </a:r>
            <a:r>
              <a:rPr sz="1200" spc="1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Name,</a:t>
            </a:r>
            <a:r>
              <a:rPr sz="1200" spc="1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PIN,</a:t>
            </a:r>
            <a:r>
              <a:rPr sz="1200" spc="1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Balance,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1200" spc="1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Account</a:t>
            </a:r>
            <a:r>
              <a:rPr sz="1200" spc="1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Status</a:t>
            </a:r>
            <a:r>
              <a:rPr sz="1200" spc="1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(Active/Blocked).</a:t>
            </a:r>
            <a:r>
              <a:rPr sz="1200" spc="1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These</a:t>
            </a:r>
            <a:r>
              <a:rPr sz="1200" spc="1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records</a:t>
            </a:r>
            <a:r>
              <a:rPr sz="1200" spc="1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are</a:t>
            </a:r>
            <a:r>
              <a:rPr sz="1200" spc="1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managed</a:t>
            </a:r>
            <a:r>
              <a:rPr sz="1200" spc="1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within</a:t>
            </a:r>
            <a:r>
              <a:rPr sz="1200" spc="1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an</a:t>
            </a:r>
            <a:r>
              <a:rPr sz="1200" spc="1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Array</a:t>
            </a:r>
            <a:r>
              <a:rPr sz="1200" spc="1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1200" spc="1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Structures,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allowing</a:t>
            </a:r>
            <a:r>
              <a:rPr sz="12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for</a:t>
            </a:r>
            <a:r>
              <a:rPr sz="12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efficient</a:t>
            </a:r>
            <a:r>
              <a:rPr sz="12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indexing</a:t>
            </a:r>
            <a:r>
              <a:rPr sz="1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12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data</a:t>
            </a:r>
            <a:r>
              <a:rPr sz="12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retrieval.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00" y="2472499"/>
            <a:ext cx="6119999" cy="20574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14208" y="5065755"/>
            <a:ext cx="11995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1A395A"/>
                </a:solidFill>
                <a:latin typeface="Times New Roman"/>
                <a:cs typeface="Times New Roman"/>
              </a:rPr>
              <a:t>7.</a:t>
            </a:r>
            <a:r>
              <a:rPr sz="1600" b="1" spc="-5" dirty="0">
                <a:solidFill>
                  <a:srgbClr val="1A395A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1A395A"/>
                </a:solidFill>
                <a:latin typeface="Times New Roman"/>
                <a:cs typeface="Times New Roman"/>
              </a:rPr>
              <a:t>Conclusion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26908" y="5544343"/>
            <a:ext cx="6221095" cy="0"/>
          </a:xfrm>
          <a:custGeom>
            <a:avLst/>
            <a:gdLst/>
            <a:ahLst/>
            <a:cxnLst/>
            <a:rect l="l" t="t" r="r" b="b"/>
            <a:pathLst>
              <a:path w="6221095">
                <a:moveTo>
                  <a:pt x="0" y="0"/>
                </a:moveTo>
                <a:lnTo>
                  <a:pt x="6220600" y="0"/>
                </a:lnTo>
              </a:path>
            </a:pathLst>
          </a:custGeom>
          <a:ln w="12799">
            <a:solidFill>
              <a:srgbClr val="1938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9583" y="5888864"/>
            <a:ext cx="614934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3300"/>
              </a:lnSpc>
              <a:spcBef>
                <a:spcPts val="100"/>
              </a:spcBef>
            </a:pP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200" spc="4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Smart</a:t>
            </a:r>
            <a:r>
              <a:rPr sz="1200" spc="4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Bank</a:t>
            </a:r>
            <a:r>
              <a:rPr sz="1200" spc="4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Management</a:t>
            </a:r>
            <a:r>
              <a:rPr sz="1200" spc="4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System</a:t>
            </a:r>
            <a:r>
              <a:rPr sz="1200" spc="4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successfully</a:t>
            </a:r>
            <a:r>
              <a:rPr sz="1200" spc="4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demonstrates</a:t>
            </a:r>
            <a:r>
              <a:rPr sz="1200" spc="4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200" spc="4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application</a:t>
            </a:r>
            <a:r>
              <a:rPr sz="1200" spc="4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1200" spc="4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core</a:t>
            </a:r>
            <a:r>
              <a:rPr sz="1200" spc="4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0" dirty="0">
                <a:solidFill>
                  <a:srgbClr val="333333"/>
                </a:solidFill>
                <a:latin typeface="Times New Roman"/>
                <a:cs typeface="Times New Roman"/>
              </a:rPr>
              <a:t>C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programming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concepts</a:t>
            </a:r>
            <a:r>
              <a:rPr sz="1200" spc="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to</a:t>
            </a:r>
            <a:r>
              <a:rPr sz="1200" spc="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solve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1200" spc="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practical</a:t>
            </a:r>
            <a:r>
              <a:rPr sz="1200" spc="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data</a:t>
            </a:r>
            <a:r>
              <a:rPr sz="1200" spc="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management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problem.</a:t>
            </a:r>
            <a:r>
              <a:rPr sz="1200" spc="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Through</a:t>
            </a:r>
            <a:r>
              <a:rPr sz="1200" spc="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200" spc="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implementation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1200" spc="2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this</a:t>
            </a:r>
            <a:r>
              <a:rPr sz="1200" spc="2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project,</a:t>
            </a:r>
            <a:r>
              <a:rPr sz="1200" spc="2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experience</a:t>
            </a:r>
            <a:r>
              <a:rPr sz="1200" spc="2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was</a:t>
            </a:r>
            <a:r>
              <a:rPr sz="1200" spc="2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gained</a:t>
            </a:r>
            <a:r>
              <a:rPr sz="1200" spc="2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in</a:t>
            </a:r>
            <a:r>
              <a:rPr sz="1200" spc="2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using</a:t>
            </a:r>
            <a:r>
              <a:rPr sz="1200" spc="2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structures,</a:t>
            </a:r>
            <a:r>
              <a:rPr sz="1200" spc="2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arrays,</a:t>
            </a:r>
            <a:r>
              <a:rPr sz="1200" spc="2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1200" spc="2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control</a:t>
            </a:r>
            <a:r>
              <a:rPr sz="1200" spc="2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flow</a:t>
            </a:r>
            <a:r>
              <a:rPr sz="1200" spc="2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to</a:t>
            </a:r>
            <a:r>
              <a:rPr sz="1200" spc="2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build</a:t>
            </a:r>
            <a:r>
              <a:rPr sz="1200" spc="2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0" dirty="0">
                <a:solidFill>
                  <a:srgbClr val="333333"/>
                </a:solidFill>
                <a:latin typeface="Times New Roman"/>
                <a:cs typeface="Times New Roman"/>
              </a:rPr>
              <a:t>a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modular</a:t>
            </a:r>
            <a:r>
              <a:rPr sz="1200" spc="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software</a:t>
            </a:r>
            <a:r>
              <a:rPr sz="1200" spc="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system.</a:t>
            </a:r>
            <a:r>
              <a:rPr sz="1200" spc="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While</a:t>
            </a:r>
            <a:r>
              <a:rPr sz="1200" spc="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it</a:t>
            </a:r>
            <a:r>
              <a:rPr sz="1200" spc="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remains</a:t>
            </a:r>
            <a:r>
              <a:rPr sz="1200" spc="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1200" spc="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simplified</a:t>
            </a:r>
            <a:r>
              <a:rPr sz="1200" spc="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model,</a:t>
            </a:r>
            <a:r>
              <a:rPr sz="1200" spc="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it</a:t>
            </a:r>
            <a:r>
              <a:rPr sz="1200" spc="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serves</a:t>
            </a:r>
            <a:r>
              <a:rPr sz="1200" spc="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as</a:t>
            </a:r>
            <a:r>
              <a:rPr sz="1200" spc="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1200" spc="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strong</a:t>
            </a:r>
            <a:r>
              <a:rPr sz="1200" spc="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foundation</a:t>
            </a:r>
            <a:r>
              <a:rPr sz="1200" spc="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for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more</a:t>
            </a:r>
            <a:r>
              <a:rPr sz="1200" spc="-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complex</a:t>
            </a:r>
            <a:r>
              <a:rPr sz="1200" spc="-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financial</a:t>
            </a:r>
            <a:r>
              <a:rPr sz="1200" spc="-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application</a:t>
            </a:r>
            <a:r>
              <a:rPr sz="1200" spc="-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development.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603</Words>
  <Application>Microsoft Office PowerPoint</Application>
  <PresentationFormat>Custom</PresentationFormat>
  <Paragraphs>55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Calibri</vt:lpstr>
      <vt:lpstr>Times New Roman</vt:lpstr>
      <vt:lpstr>Office Theme</vt:lpstr>
      <vt:lpstr>SMART BANK MANAGEMENT SYSTEM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BANK MANAGEMENT SYSTEM</dc:title>
  <dc:creator>Wagh</dc:creator>
  <cp:lastModifiedBy>Wagh</cp:lastModifiedBy>
  <cp:revision>1</cp:revision>
  <dcterms:created xsi:type="dcterms:W3CDTF">2026-04-14T08:59:35Z</dcterms:created>
  <dcterms:modified xsi:type="dcterms:W3CDTF">2026-04-14T09:00:43Z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2026-04-14T00:00:00Z</vt:filetime>
  </property>
  <property fmtid="{D5CDD505-2E9C-101B-9397-08002B2CF9AE}" pid="3" name="Producer">
    <vt:lpwstr>WeasyPrint 62.3</vt:lpwstr>
  </property>
  <property fmtid="{D5CDD505-2E9C-101B-9397-08002B2CF9AE}" pid="4" name="LastSaved">
    <vt:filetime>2026-04-14T00:00:00Z</vt:filetime>
  </property>
</Properties>
</file>